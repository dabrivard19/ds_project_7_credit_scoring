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0" r:id="rId13"/>
    <p:sldId id="271" r:id="rId14"/>
    <p:sldId id="272" r:id="rId15"/>
    <p:sldId id="273" r:id="rId16"/>
    <p:sldId id="266" r:id="rId17"/>
    <p:sldId id="281" r:id="rId18"/>
    <p:sldId id="274" r:id="rId19"/>
    <p:sldId id="275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9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24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793A1-604D-4B27-BCC2-A807EC7A9193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FA774-30A0-471F-83DE-8BEA962492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940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9FA774-30A0-471F-83DE-8BEA9624923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621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000/#/experiments/239362865412336589/runs?searchFilter=tags.notebook_run_id+%3D+%2720260513_171712%27&amp;orderByKey=metrics.%60AUC_test%60&amp;orderByAsc=false&amp;startTime=ALL&amp;lifecycleFilter=Active&amp;modelVersionFilter=All+Runs&amp;datasetsFilter=W10%3D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../ds_project_7_credit_scoring/reports/data_drift_application_train_vs_application_test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fr-FR" sz="3600" dirty="0"/>
              <a:t>Projet</a:t>
            </a:r>
            <a:br>
              <a:rPr lang="fr-FR" sz="3600" b="1" u="sng" dirty="0"/>
            </a:br>
            <a:r>
              <a:rPr lang="fr-FR" sz="3600" u="sng" dirty="0"/>
              <a:t>« Implémentez un modèle de </a:t>
            </a:r>
            <a:r>
              <a:rPr lang="fr-FR" sz="3600" u="sng" dirty="0" err="1"/>
              <a:t>scoring</a:t>
            </a:r>
            <a:r>
              <a:rPr lang="fr-FR" sz="3600" u="sng" dirty="0"/>
              <a:t> »</a:t>
            </a:r>
            <a:br>
              <a:rPr lang="fr-FR" sz="3600" u="sng" dirty="0"/>
            </a:br>
            <a:r>
              <a:rPr lang="fr-FR" sz="2700" dirty="0"/>
              <a:t>pour l’entreprise financière «Prêt à dépenser»</a:t>
            </a:r>
            <a:endParaRPr lang="fr-FR" sz="2700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455" y="3886200"/>
            <a:ext cx="8317735" cy="1470025"/>
          </a:xfrm>
          <a:ln>
            <a:noFill/>
          </a:ln>
        </p:spPr>
        <p:txBody>
          <a:bodyPr>
            <a:normAutofit/>
          </a:bodyPr>
          <a:lstStyle/>
          <a:p>
            <a:r>
              <a:rPr sz="2200" dirty="0" err="1">
                <a:solidFill>
                  <a:schemeClr val="tx1"/>
                </a:solidFill>
              </a:rPr>
              <a:t>Projet</a:t>
            </a:r>
            <a:r>
              <a:rPr sz="2200" dirty="0">
                <a:solidFill>
                  <a:schemeClr val="tx1"/>
                </a:solidFill>
              </a:rPr>
              <a:t> </a:t>
            </a:r>
            <a:r>
              <a:rPr sz="2200" dirty="0" err="1">
                <a:solidFill>
                  <a:schemeClr val="tx1"/>
                </a:solidFill>
              </a:rPr>
              <a:t>complet</a:t>
            </a:r>
            <a:r>
              <a:rPr sz="2200" dirty="0">
                <a:solidFill>
                  <a:schemeClr val="tx1"/>
                </a:solidFill>
              </a:rPr>
              <a:t> de Machine Learning </a:t>
            </a:r>
            <a:r>
              <a:rPr sz="2200" dirty="0" err="1">
                <a:solidFill>
                  <a:schemeClr val="tx1"/>
                </a:solidFill>
              </a:rPr>
              <a:t>industrialisé</a:t>
            </a:r>
            <a:r>
              <a:rPr sz="2200" dirty="0">
                <a:solidFill>
                  <a:schemeClr val="tx1"/>
                </a:solidFill>
              </a:rPr>
              <a:t> :</a:t>
            </a:r>
          </a:p>
          <a:p>
            <a:r>
              <a:rPr lang="fr-FR" sz="2200" dirty="0">
                <a:solidFill>
                  <a:schemeClr val="tx1"/>
                </a:solidFill>
              </a:rPr>
              <a:t>analyse exploratoire, f</a:t>
            </a:r>
            <a:r>
              <a:rPr sz="2200" dirty="0" err="1">
                <a:solidFill>
                  <a:schemeClr val="tx1"/>
                </a:solidFill>
              </a:rPr>
              <a:t>eature</a:t>
            </a:r>
            <a:r>
              <a:rPr sz="2200" dirty="0">
                <a:solidFill>
                  <a:schemeClr val="tx1"/>
                </a:solidFill>
              </a:rPr>
              <a:t> </a:t>
            </a:r>
            <a:r>
              <a:rPr lang="fr-FR" sz="2200" dirty="0">
                <a:solidFill>
                  <a:schemeClr val="tx1"/>
                </a:solidFill>
              </a:rPr>
              <a:t>e</a:t>
            </a:r>
            <a:r>
              <a:rPr sz="2200" dirty="0" err="1">
                <a:solidFill>
                  <a:schemeClr val="tx1"/>
                </a:solidFill>
              </a:rPr>
              <a:t>ngineering</a:t>
            </a:r>
            <a:r>
              <a:rPr lang="fr-FR" sz="2200" dirty="0">
                <a:solidFill>
                  <a:schemeClr val="tx1"/>
                </a:solidFill>
              </a:rPr>
              <a:t>, m</a:t>
            </a:r>
            <a:r>
              <a:rPr sz="2200" dirty="0" err="1">
                <a:solidFill>
                  <a:schemeClr val="tx1"/>
                </a:solidFill>
              </a:rPr>
              <a:t>odélisation</a:t>
            </a:r>
            <a:r>
              <a:rPr lang="fr-FR" sz="2200" dirty="0">
                <a:solidFill>
                  <a:schemeClr val="tx1"/>
                </a:solidFill>
              </a:rPr>
              <a:t>, performances, </a:t>
            </a:r>
            <a:r>
              <a:rPr lang="fr-FR" sz="2200" dirty="0" err="1">
                <a:solidFill>
                  <a:schemeClr val="tx1"/>
                </a:solidFill>
              </a:rPr>
              <a:t>tracking</a:t>
            </a:r>
            <a:r>
              <a:rPr lang="fr-FR" sz="2200" dirty="0">
                <a:solidFill>
                  <a:schemeClr val="tx1"/>
                </a:solidFill>
              </a:rPr>
              <a:t> </a:t>
            </a:r>
            <a:r>
              <a:rPr sz="2200" dirty="0">
                <a:solidFill>
                  <a:schemeClr val="tx1"/>
                </a:solidFill>
              </a:rPr>
              <a:t>M</a:t>
            </a:r>
            <a:r>
              <a:rPr lang="fr-FR" sz="2200" dirty="0">
                <a:solidFill>
                  <a:schemeClr val="tx1"/>
                </a:solidFill>
              </a:rPr>
              <a:t>l</a:t>
            </a:r>
            <a:r>
              <a:rPr sz="2200" dirty="0">
                <a:solidFill>
                  <a:schemeClr val="tx1"/>
                </a:solidFill>
              </a:rPr>
              <a:t>flow</a:t>
            </a:r>
            <a:r>
              <a:rPr lang="fr-FR" sz="2200" dirty="0">
                <a:solidFill>
                  <a:schemeClr val="tx1"/>
                </a:solidFill>
              </a:rPr>
              <a:t>, </a:t>
            </a:r>
            <a:r>
              <a:rPr sz="2200" dirty="0">
                <a:solidFill>
                  <a:schemeClr val="tx1"/>
                </a:solidFill>
              </a:rPr>
              <a:t>API </a:t>
            </a:r>
            <a:r>
              <a:rPr lang="fr-FR" sz="2200" dirty="0" err="1">
                <a:solidFill>
                  <a:schemeClr val="tx1"/>
                </a:solidFill>
              </a:rPr>
              <a:t>FastAPI</a:t>
            </a:r>
            <a:r>
              <a:rPr lang="fr-FR" sz="2200" dirty="0">
                <a:solidFill>
                  <a:schemeClr val="tx1"/>
                </a:solidFill>
              </a:rPr>
              <a:t>, </a:t>
            </a:r>
            <a:r>
              <a:rPr sz="2200" dirty="0">
                <a:solidFill>
                  <a:schemeClr val="tx1"/>
                </a:solidFill>
              </a:rPr>
              <a:t>CI/CD</a:t>
            </a:r>
            <a:r>
              <a:rPr lang="fr-FR" sz="2200" dirty="0">
                <a:solidFill>
                  <a:schemeClr val="tx1"/>
                </a:solidFill>
              </a:rPr>
              <a:t>, m</a:t>
            </a:r>
            <a:r>
              <a:rPr sz="2200" dirty="0" err="1">
                <a:solidFill>
                  <a:schemeClr val="tx1"/>
                </a:solidFill>
              </a:rPr>
              <a:t>onitoring</a:t>
            </a:r>
            <a:r>
              <a:rPr sz="2200" dirty="0">
                <a:solidFill>
                  <a:schemeClr val="tx1"/>
                </a:solidFill>
              </a:rPr>
              <a:t> Evidently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121B45B-A74A-9A77-74F7-01567BC4C347}"/>
              </a:ext>
            </a:extLst>
          </p:cNvPr>
          <p:cNvSpPr txBox="1">
            <a:spLocks/>
          </p:cNvSpPr>
          <p:nvPr/>
        </p:nvSpPr>
        <p:spPr>
          <a:xfrm>
            <a:off x="6246564" y="6301648"/>
            <a:ext cx="2211636" cy="3194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Dana Abrivard / </a:t>
            </a:r>
            <a:r>
              <a:rPr lang="en-US" dirty="0" err="1">
                <a:solidFill>
                  <a:schemeClr val="tx1"/>
                </a:solidFill>
              </a:rPr>
              <a:t>mai</a:t>
            </a:r>
            <a:r>
              <a:rPr lang="en-US" dirty="0">
                <a:solidFill>
                  <a:schemeClr val="tx1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44" y="69258"/>
            <a:ext cx="3949547" cy="683829"/>
          </a:xfrm>
        </p:spPr>
        <p:txBody>
          <a:bodyPr>
            <a:normAutofit fontScale="90000"/>
          </a:bodyPr>
          <a:lstStyle/>
          <a:p>
            <a:r>
              <a:rPr dirty="0" err="1"/>
              <a:t>Contexte</a:t>
            </a:r>
            <a:r>
              <a:rPr dirty="0"/>
              <a:t>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 err="1"/>
              <a:t>L’entreprise</a:t>
            </a:r>
            <a:r>
              <a:rPr dirty="0"/>
              <a:t> « Prêt à </a:t>
            </a:r>
            <a:r>
              <a:rPr dirty="0" err="1"/>
              <a:t>dépenser</a:t>
            </a:r>
            <a:r>
              <a:rPr dirty="0"/>
              <a:t> » est </a:t>
            </a:r>
            <a:r>
              <a:rPr dirty="0" err="1"/>
              <a:t>une</a:t>
            </a:r>
            <a:r>
              <a:rPr dirty="0"/>
              <a:t> société financière </a:t>
            </a:r>
            <a:r>
              <a:rPr dirty="0" err="1"/>
              <a:t>spécialisée</a:t>
            </a:r>
            <a:r>
              <a:rPr dirty="0"/>
              <a:t> dans le </a:t>
            </a:r>
            <a:r>
              <a:rPr dirty="0" err="1"/>
              <a:t>crédit</a:t>
            </a:r>
            <a:r>
              <a:rPr dirty="0"/>
              <a:t> à la </a:t>
            </a:r>
            <a:r>
              <a:rPr dirty="0" err="1"/>
              <a:t>consommation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Elle </a:t>
            </a:r>
            <a:r>
              <a:rPr dirty="0" err="1"/>
              <a:t>cible</a:t>
            </a:r>
            <a:r>
              <a:rPr dirty="0"/>
              <a:t> </a:t>
            </a:r>
            <a:r>
              <a:rPr dirty="0" err="1"/>
              <a:t>principalement</a:t>
            </a:r>
            <a:r>
              <a:rPr dirty="0"/>
              <a:t> des clients </a:t>
            </a:r>
            <a:r>
              <a:rPr dirty="0" err="1"/>
              <a:t>ayant</a:t>
            </a:r>
            <a:r>
              <a:rPr dirty="0"/>
              <a:t> peu </a:t>
            </a:r>
            <a:r>
              <a:rPr dirty="0" err="1"/>
              <a:t>ou</a:t>
            </a:r>
            <a:r>
              <a:rPr dirty="0"/>
              <a:t> pas </a:t>
            </a:r>
            <a:r>
              <a:rPr dirty="0" err="1"/>
              <a:t>d’historique</a:t>
            </a:r>
            <a:r>
              <a:rPr dirty="0"/>
              <a:t> </a:t>
            </a:r>
            <a:r>
              <a:rPr dirty="0" err="1"/>
              <a:t>bancaire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de </a:t>
            </a:r>
            <a:r>
              <a:rPr dirty="0" err="1"/>
              <a:t>crédit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Le </a:t>
            </a:r>
            <a:r>
              <a:rPr dirty="0" err="1"/>
              <a:t>risque</a:t>
            </a:r>
            <a:r>
              <a:rPr dirty="0"/>
              <a:t> de </a:t>
            </a:r>
            <a:r>
              <a:rPr dirty="0" err="1"/>
              <a:t>défaut</a:t>
            </a:r>
            <a:r>
              <a:rPr dirty="0"/>
              <a:t> est </a:t>
            </a:r>
            <a:r>
              <a:rPr dirty="0" err="1"/>
              <a:t>donc</a:t>
            </a:r>
            <a:r>
              <a:rPr dirty="0"/>
              <a:t> difficile à </a:t>
            </a:r>
            <a:r>
              <a:rPr dirty="0" err="1"/>
              <a:t>évaluer</a:t>
            </a:r>
            <a:r>
              <a:rPr dirty="0"/>
              <a:t> avec des </a:t>
            </a: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traditionnelles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 err="1"/>
              <a:t>L’objectif</a:t>
            </a:r>
            <a:r>
              <a:rPr dirty="0"/>
              <a:t> métier est </a:t>
            </a:r>
            <a:r>
              <a:rPr dirty="0" err="1"/>
              <a:t>d’automatiser</a:t>
            </a:r>
            <a:r>
              <a:rPr dirty="0"/>
              <a:t> </a:t>
            </a:r>
            <a:r>
              <a:rPr dirty="0" err="1"/>
              <a:t>l’analyse</a:t>
            </a:r>
            <a:r>
              <a:rPr dirty="0"/>
              <a:t> du </a:t>
            </a:r>
            <a:r>
              <a:rPr dirty="0" err="1"/>
              <a:t>risque</a:t>
            </a:r>
            <a:r>
              <a:rPr dirty="0"/>
              <a:t> grâce à un </a:t>
            </a:r>
            <a:r>
              <a:rPr dirty="0" err="1"/>
              <a:t>modèle</a:t>
            </a:r>
            <a:r>
              <a:rPr dirty="0"/>
              <a:t> de Machine Learning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Le </a:t>
            </a:r>
            <a:r>
              <a:rPr dirty="0" err="1"/>
              <a:t>modèle</a:t>
            </a:r>
            <a:r>
              <a:rPr dirty="0"/>
              <a:t> doit </a:t>
            </a:r>
            <a:r>
              <a:rPr dirty="0" err="1"/>
              <a:t>estimer</a:t>
            </a:r>
            <a:r>
              <a:rPr dirty="0"/>
              <a:t> la </a:t>
            </a:r>
            <a:r>
              <a:rPr dirty="0" err="1"/>
              <a:t>probabilité</a:t>
            </a:r>
            <a:r>
              <a:rPr dirty="0"/>
              <a:t> de </a:t>
            </a:r>
            <a:r>
              <a:rPr dirty="0" err="1"/>
              <a:t>remboursement</a:t>
            </a:r>
            <a:r>
              <a:rPr dirty="0"/>
              <a:t> d’un client </a:t>
            </a:r>
            <a:r>
              <a:rPr dirty="0" err="1"/>
              <a:t>afin</a:t>
            </a:r>
            <a:r>
              <a:rPr dirty="0"/>
              <a:t> </a:t>
            </a:r>
            <a:r>
              <a:rPr dirty="0" err="1"/>
              <a:t>d’aider</a:t>
            </a:r>
            <a:r>
              <a:rPr dirty="0"/>
              <a:t> les </a:t>
            </a:r>
            <a:r>
              <a:rPr dirty="0" err="1"/>
              <a:t>analystes</a:t>
            </a:r>
            <a:r>
              <a:rPr dirty="0"/>
              <a:t> </a:t>
            </a:r>
            <a:r>
              <a:rPr dirty="0" err="1"/>
              <a:t>crédit</a:t>
            </a:r>
            <a:r>
              <a:rPr dirty="0"/>
              <a:t> à prendre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décision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s’inscrit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démarche </a:t>
            </a:r>
            <a:r>
              <a:rPr dirty="0" err="1"/>
              <a:t>d’industrialisation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 du cycle de vie d’un </a:t>
            </a:r>
            <a:r>
              <a:rPr dirty="0" err="1"/>
              <a:t>modèle</a:t>
            </a:r>
            <a:r>
              <a:rPr dirty="0"/>
              <a:t> ML (</a:t>
            </a:r>
            <a:r>
              <a:rPr dirty="0" err="1"/>
              <a:t>MLOps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957"/>
            <a:ext cx="5078776" cy="716880"/>
          </a:xfrm>
        </p:spPr>
        <p:txBody>
          <a:bodyPr>
            <a:normAutofit fontScale="90000"/>
          </a:bodyPr>
          <a:lstStyle/>
          <a:p>
            <a:r>
              <a:rPr dirty="0" err="1"/>
              <a:t>Problématique</a:t>
            </a:r>
            <a:r>
              <a:rPr dirty="0"/>
              <a:t>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Le principal </a:t>
            </a:r>
            <a:r>
              <a:rPr dirty="0" err="1"/>
              <a:t>enjeu</a:t>
            </a:r>
            <a:r>
              <a:rPr dirty="0"/>
              <a:t> est de </a:t>
            </a:r>
            <a:r>
              <a:rPr dirty="0" err="1"/>
              <a:t>réduire</a:t>
            </a:r>
            <a:r>
              <a:rPr dirty="0"/>
              <a:t> le </a:t>
            </a:r>
            <a:r>
              <a:rPr dirty="0" err="1"/>
              <a:t>risque</a:t>
            </a:r>
            <a:r>
              <a:rPr dirty="0"/>
              <a:t> financier </a:t>
            </a:r>
            <a:r>
              <a:rPr dirty="0" err="1"/>
              <a:t>lié</a:t>
            </a:r>
            <a:r>
              <a:rPr dirty="0"/>
              <a:t> aux </a:t>
            </a:r>
            <a:r>
              <a:rPr dirty="0" err="1"/>
              <a:t>défauts</a:t>
            </a:r>
            <a:r>
              <a:rPr dirty="0"/>
              <a:t> de </a:t>
            </a:r>
            <a:r>
              <a:rPr dirty="0" err="1"/>
              <a:t>paiement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Deux types </a:t>
            </a:r>
            <a:r>
              <a:rPr dirty="0" err="1"/>
              <a:t>d’erreurs</a:t>
            </a:r>
            <a:r>
              <a:rPr dirty="0"/>
              <a:t> métier existent </a:t>
            </a:r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• Faux </a:t>
            </a:r>
            <a:r>
              <a:rPr dirty="0" err="1"/>
              <a:t>négatif</a:t>
            </a:r>
            <a:r>
              <a:rPr dirty="0"/>
              <a:t> (FN) : un </a:t>
            </a:r>
            <a:r>
              <a:rPr dirty="0" err="1"/>
              <a:t>mauvais</a:t>
            </a:r>
            <a:r>
              <a:rPr dirty="0"/>
              <a:t> client est </a:t>
            </a:r>
            <a:r>
              <a:rPr dirty="0" err="1"/>
              <a:t>prédit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bon → </a:t>
            </a:r>
            <a:r>
              <a:rPr dirty="0" err="1"/>
              <a:t>perte</a:t>
            </a:r>
            <a:r>
              <a:rPr dirty="0"/>
              <a:t> financière </a:t>
            </a:r>
            <a:r>
              <a:rPr lang="fr-FR" dirty="0"/>
              <a:t>	</a:t>
            </a:r>
            <a:r>
              <a:rPr dirty="0" err="1"/>
              <a:t>importante</a:t>
            </a:r>
            <a:endParaRPr dirty="0"/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• Faux </a:t>
            </a:r>
            <a:r>
              <a:rPr dirty="0" err="1"/>
              <a:t>positif</a:t>
            </a:r>
            <a:r>
              <a:rPr dirty="0"/>
              <a:t> (FP) : un bon client est </a:t>
            </a:r>
            <a:r>
              <a:rPr dirty="0" err="1"/>
              <a:t>refusé</a:t>
            </a:r>
            <a:r>
              <a:rPr dirty="0"/>
              <a:t> → manque à </a:t>
            </a:r>
            <a:r>
              <a:rPr dirty="0" err="1"/>
              <a:t>gagner</a:t>
            </a:r>
            <a:r>
              <a:rPr dirty="0"/>
              <a:t> commercial</a:t>
            </a:r>
            <a:endParaRPr lang="fr-FR" dirty="0"/>
          </a:p>
          <a:p>
            <a:pPr marL="0" indent="0">
              <a:buNone/>
              <a:defRPr sz="1600"/>
            </a:pPr>
            <a:endParaRPr dirty="0"/>
          </a:p>
          <a:p>
            <a:pPr>
              <a:defRPr sz="1600"/>
            </a:pPr>
            <a:r>
              <a:rPr dirty="0"/>
              <a:t>Dans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projet</a:t>
            </a:r>
            <a:r>
              <a:rPr dirty="0"/>
              <a:t>, le </a:t>
            </a:r>
            <a:r>
              <a:rPr dirty="0" err="1"/>
              <a:t>coût</a:t>
            </a:r>
            <a:r>
              <a:rPr dirty="0"/>
              <a:t> métier d’un faux </a:t>
            </a:r>
            <a:r>
              <a:rPr dirty="0" err="1"/>
              <a:t>négatif</a:t>
            </a:r>
            <a:r>
              <a:rPr dirty="0"/>
              <a:t> est </a:t>
            </a:r>
            <a:r>
              <a:rPr dirty="0" err="1"/>
              <a:t>considéré</a:t>
            </a:r>
            <a:r>
              <a:rPr dirty="0"/>
              <a:t> 10 </a:t>
            </a:r>
            <a:r>
              <a:rPr dirty="0" err="1"/>
              <a:t>fois</a:t>
            </a:r>
            <a:r>
              <a:rPr dirty="0"/>
              <a:t> supérieur à </a:t>
            </a:r>
            <a:r>
              <a:rPr dirty="0" err="1"/>
              <a:t>celui</a:t>
            </a:r>
            <a:r>
              <a:rPr dirty="0"/>
              <a:t> d’un faux </a:t>
            </a:r>
            <a:r>
              <a:rPr dirty="0" err="1"/>
              <a:t>positif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Le </a:t>
            </a:r>
            <a:r>
              <a:rPr dirty="0" err="1"/>
              <a:t>seuil</a:t>
            </a:r>
            <a:r>
              <a:rPr dirty="0"/>
              <a:t> de </a:t>
            </a:r>
            <a:r>
              <a:rPr dirty="0" err="1"/>
              <a:t>décision</a:t>
            </a:r>
            <a:r>
              <a:rPr dirty="0"/>
              <a:t> du </a:t>
            </a:r>
            <a:r>
              <a:rPr dirty="0" err="1"/>
              <a:t>modèle</a:t>
            </a:r>
            <a:r>
              <a:rPr dirty="0"/>
              <a:t> doit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optimisé</a:t>
            </a:r>
            <a:r>
              <a:rPr dirty="0"/>
              <a:t> </a:t>
            </a:r>
            <a:r>
              <a:rPr dirty="0" err="1"/>
              <a:t>selon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logique</a:t>
            </a:r>
            <a:r>
              <a:rPr dirty="0"/>
              <a:t> métier et non </a:t>
            </a:r>
            <a:r>
              <a:rPr dirty="0" err="1"/>
              <a:t>uniquement</a:t>
            </a:r>
            <a:r>
              <a:rPr dirty="0"/>
              <a:t> </a:t>
            </a:r>
            <a:r>
              <a:rPr dirty="0" err="1"/>
              <a:t>statistique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 err="1"/>
              <a:t>L’objectif</a:t>
            </a:r>
            <a:r>
              <a:rPr dirty="0"/>
              <a:t> final est </a:t>
            </a:r>
            <a:r>
              <a:rPr dirty="0" err="1"/>
              <a:t>d’obtenir</a:t>
            </a:r>
            <a:r>
              <a:rPr dirty="0"/>
              <a:t> un </a:t>
            </a:r>
            <a:r>
              <a:rPr dirty="0" err="1"/>
              <a:t>modèle</a:t>
            </a:r>
            <a:r>
              <a:rPr dirty="0"/>
              <a:t> performant, explicable et </a:t>
            </a:r>
            <a:r>
              <a:rPr dirty="0" err="1"/>
              <a:t>industrialisable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52" y="44166"/>
            <a:ext cx="7001219" cy="816032"/>
          </a:xfrm>
        </p:spPr>
        <p:txBody>
          <a:bodyPr/>
          <a:lstStyle/>
          <a:p>
            <a:r>
              <a:rPr dirty="0"/>
              <a:t>Architecture </a:t>
            </a:r>
            <a:r>
              <a:rPr dirty="0" err="1"/>
              <a:t>globale</a:t>
            </a:r>
            <a:r>
              <a:rPr dirty="0"/>
              <a:t> du </a:t>
            </a:r>
            <a:r>
              <a:rPr dirty="0" err="1"/>
              <a:t>projet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6749"/>
            <a:ext cx="8229600" cy="4525963"/>
          </a:xfrm>
        </p:spPr>
        <p:txBody>
          <a:bodyPr/>
          <a:lstStyle/>
          <a:p>
            <a:pPr>
              <a:defRPr sz="1600"/>
            </a:pPr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couvre</a:t>
            </a:r>
            <a:r>
              <a:rPr dirty="0"/>
              <a:t> </a:t>
            </a:r>
            <a:r>
              <a:rPr dirty="0" err="1"/>
              <a:t>l’ensemble</a:t>
            </a:r>
            <a:r>
              <a:rPr dirty="0"/>
              <a:t> du cycle de vie d’un </a:t>
            </a:r>
            <a:r>
              <a:rPr dirty="0" err="1"/>
              <a:t>modèle</a:t>
            </a:r>
            <a:r>
              <a:rPr dirty="0"/>
              <a:t> de Machine </a:t>
            </a:r>
            <a:r>
              <a:rPr dirty="0" err="1"/>
              <a:t>Learnin</a:t>
            </a:r>
            <a:r>
              <a:rPr lang="fr-FR" dirty="0"/>
              <a:t>g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Étapes </a:t>
            </a:r>
            <a:r>
              <a:rPr dirty="0" err="1"/>
              <a:t>principales</a:t>
            </a:r>
            <a:r>
              <a:rPr dirty="0"/>
              <a:t> :</a:t>
            </a:r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1. </a:t>
            </a:r>
            <a:r>
              <a:rPr dirty="0" err="1"/>
              <a:t>Collecte</a:t>
            </a:r>
            <a:r>
              <a:rPr lang="fr-FR" dirty="0"/>
              <a:t>, exploration</a:t>
            </a:r>
            <a:r>
              <a:rPr dirty="0"/>
              <a:t> et </a:t>
            </a:r>
            <a:r>
              <a:rPr dirty="0" err="1"/>
              <a:t>préparation</a:t>
            </a:r>
            <a:r>
              <a:rPr dirty="0"/>
              <a:t> des données</a:t>
            </a:r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2. Feature Engineering et preprocessing</a:t>
            </a:r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3. </a:t>
            </a:r>
            <a:r>
              <a:rPr dirty="0" err="1"/>
              <a:t>Entraînement</a:t>
            </a:r>
            <a:r>
              <a:rPr dirty="0"/>
              <a:t> et </a:t>
            </a:r>
            <a:r>
              <a:rPr dirty="0" err="1"/>
              <a:t>optimisation</a:t>
            </a:r>
            <a:r>
              <a:rPr dirty="0"/>
              <a:t> des </a:t>
            </a:r>
            <a:r>
              <a:rPr dirty="0" err="1"/>
              <a:t>modèles</a:t>
            </a:r>
            <a:endParaRPr dirty="0"/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4. Tracking des </a:t>
            </a:r>
            <a:r>
              <a:rPr dirty="0" err="1"/>
              <a:t>expérimentations</a:t>
            </a:r>
            <a:r>
              <a:rPr dirty="0"/>
              <a:t> avec </a:t>
            </a:r>
            <a:r>
              <a:rPr dirty="0" err="1"/>
              <a:t>MLflow</a:t>
            </a:r>
            <a:endParaRPr dirty="0"/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5. Stockage des </a:t>
            </a:r>
            <a:r>
              <a:rPr dirty="0" err="1"/>
              <a:t>modèles</a:t>
            </a:r>
            <a:r>
              <a:rPr dirty="0"/>
              <a:t> dans le Model Registry</a:t>
            </a:r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6. </a:t>
            </a:r>
            <a:r>
              <a:rPr dirty="0" err="1"/>
              <a:t>Déploiement</a:t>
            </a:r>
            <a:r>
              <a:rPr dirty="0"/>
              <a:t> du </a:t>
            </a:r>
            <a:r>
              <a:rPr dirty="0" err="1"/>
              <a:t>modèle</a:t>
            </a:r>
            <a:r>
              <a:rPr dirty="0"/>
              <a:t> via </a:t>
            </a:r>
            <a:r>
              <a:rPr dirty="0" err="1"/>
              <a:t>une</a:t>
            </a:r>
            <a:r>
              <a:rPr dirty="0"/>
              <a:t> </a:t>
            </a:r>
            <a:r>
              <a:rPr lang="fr-FR" dirty="0"/>
              <a:t>l’</a:t>
            </a:r>
            <a:r>
              <a:rPr dirty="0"/>
              <a:t>API </a:t>
            </a:r>
            <a:r>
              <a:rPr lang="fr-FR" dirty="0" err="1"/>
              <a:t>FastAPI</a:t>
            </a:r>
            <a:endParaRPr dirty="0"/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7. </a:t>
            </a:r>
            <a:r>
              <a:rPr lang="fr-FR" dirty="0"/>
              <a:t>Gestion des versions du code avec GitHub et </a:t>
            </a:r>
            <a:r>
              <a:rPr dirty="0"/>
              <a:t>CI/CD avec GitHub Actions</a:t>
            </a:r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8. Monitoring du Data Drift avec Evidently</a:t>
            </a:r>
            <a:endParaRPr lang="fr-FR" dirty="0"/>
          </a:p>
          <a:p>
            <a:pPr marL="0" indent="0">
              <a:buNone/>
              <a:defRPr sz="1600"/>
            </a:pPr>
            <a:endParaRPr dirty="0"/>
          </a:p>
          <a:p>
            <a:pPr>
              <a:defRPr sz="1600"/>
            </a:pPr>
            <a:r>
              <a:rPr dirty="0" err="1"/>
              <a:t>L’objectif</a:t>
            </a:r>
            <a:r>
              <a:rPr dirty="0"/>
              <a:t> est de </a:t>
            </a:r>
            <a:r>
              <a:rPr dirty="0" err="1"/>
              <a:t>construire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plateforme</a:t>
            </a:r>
            <a:r>
              <a:rPr dirty="0"/>
              <a:t> </a:t>
            </a:r>
            <a:r>
              <a:rPr dirty="0" err="1"/>
              <a:t>MLOps</a:t>
            </a:r>
            <a:r>
              <a:rPr dirty="0"/>
              <a:t> reproductible et </a:t>
            </a:r>
            <a:r>
              <a:rPr dirty="0" err="1"/>
              <a:t>industrialisable</a:t>
            </a:r>
            <a:endParaRPr dirty="0"/>
          </a:p>
        </p:txBody>
      </p:sp>
      <p:pic>
        <p:nvPicPr>
          <p:cNvPr id="4" name="Picture 3" descr="workflo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0210" y="5520978"/>
            <a:ext cx="23419237" cy="11367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8241"/>
            <a:ext cx="4004631" cy="694846"/>
          </a:xfrm>
        </p:spPr>
        <p:txBody>
          <a:bodyPr>
            <a:normAutofit fontScale="90000"/>
          </a:bodyPr>
          <a:lstStyle/>
          <a:p>
            <a:r>
              <a:rPr dirty="0"/>
              <a:t>Jeu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600"/>
            </a:pPr>
            <a:r>
              <a:rPr dirty="0"/>
              <a:t>Le dataset </a:t>
            </a:r>
            <a:r>
              <a:rPr dirty="0" err="1"/>
              <a:t>provient</a:t>
            </a:r>
            <a:r>
              <a:rPr dirty="0"/>
              <a:t> du challenge Home Credit Default Risk de Kaggle</a:t>
            </a:r>
            <a:endParaRPr lang="fr-FR" dirty="0"/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Les données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réparties</a:t>
            </a:r>
            <a:r>
              <a:rPr dirty="0"/>
              <a:t> dans </a:t>
            </a:r>
            <a:r>
              <a:rPr dirty="0" err="1"/>
              <a:t>plusieurs</a:t>
            </a:r>
            <a:r>
              <a:rPr dirty="0"/>
              <a:t> tables </a:t>
            </a:r>
            <a:r>
              <a:rPr dirty="0" err="1"/>
              <a:t>relationnelles</a:t>
            </a:r>
            <a:r>
              <a:rPr dirty="0"/>
              <a:t> </a:t>
            </a:r>
            <a:r>
              <a:rPr dirty="0" err="1"/>
              <a:t>contenant</a:t>
            </a:r>
            <a:r>
              <a:rPr dirty="0"/>
              <a:t> :</a:t>
            </a:r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• </a:t>
            </a:r>
            <a:r>
              <a:rPr dirty="0" err="1"/>
              <a:t>Informations</a:t>
            </a:r>
            <a:r>
              <a:rPr dirty="0"/>
              <a:t> clients</a:t>
            </a:r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• </a:t>
            </a:r>
            <a:r>
              <a:rPr dirty="0" err="1"/>
              <a:t>Historique</a:t>
            </a:r>
            <a:r>
              <a:rPr dirty="0"/>
              <a:t> </a:t>
            </a:r>
            <a:r>
              <a:rPr dirty="0" err="1"/>
              <a:t>bancaire</a:t>
            </a:r>
            <a:endParaRPr dirty="0"/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• </a:t>
            </a:r>
            <a:r>
              <a:rPr dirty="0" err="1"/>
              <a:t>Crédits</a:t>
            </a:r>
            <a:r>
              <a:rPr dirty="0"/>
              <a:t> </a:t>
            </a:r>
            <a:r>
              <a:rPr dirty="0" err="1"/>
              <a:t>précédents</a:t>
            </a:r>
            <a:endParaRPr dirty="0"/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• </a:t>
            </a:r>
            <a:r>
              <a:rPr dirty="0" err="1"/>
              <a:t>Informations</a:t>
            </a:r>
            <a:r>
              <a:rPr dirty="0"/>
              <a:t> </a:t>
            </a:r>
            <a:r>
              <a:rPr dirty="0" err="1"/>
              <a:t>comportementales</a:t>
            </a:r>
            <a:endParaRPr dirty="0"/>
          </a:p>
          <a:p>
            <a:pPr marL="0" indent="0">
              <a:buNone/>
              <a:defRPr sz="1600"/>
            </a:pPr>
            <a:r>
              <a:rPr lang="fr-FR" dirty="0"/>
              <a:t>	</a:t>
            </a:r>
            <a:r>
              <a:rPr dirty="0"/>
              <a:t>• Données </a:t>
            </a:r>
            <a:r>
              <a:rPr dirty="0" err="1"/>
              <a:t>provenant</a:t>
            </a:r>
            <a:r>
              <a:rPr dirty="0"/>
              <a:t> </a:t>
            </a:r>
            <a:r>
              <a:rPr dirty="0" err="1"/>
              <a:t>d’autres</a:t>
            </a:r>
            <a:r>
              <a:rPr dirty="0"/>
              <a:t> institutions </a:t>
            </a:r>
            <a:r>
              <a:rPr dirty="0" err="1"/>
              <a:t>financières</a:t>
            </a:r>
            <a:endParaRPr dirty="0"/>
          </a:p>
          <a:p>
            <a:pPr>
              <a:defRPr sz="1600"/>
            </a:pPr>
            <a:endParaRPr lang="fr-FR" dirty="0"/>
          </a:p>
          <a:p>
            <a:pPr>
              <a:defRPr sz="1600"/>
            </a:pPr>
            <a:r>
              <a:rPr dirty="0"/>
              <a:t>Les </a:t>
            </a:r>
            <a:r>
              <a:rPr dirty="0" err="1"/>
              <a:t>différentes</a:t>
            </a:r>
            <a:r>
              <a:rPr dirty="0"/>
              <a:t> tables </a:t>
            </a:r>
            <a:r>
              <a:rPr dirty="0" err="1"/>
              <a:t>ont</a:t>
            </a:r>
            <a:r>
              <a:rPr dirty="0"/>
              <a:t>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jointes</a:t>
            </a:r>
            <a:r>
              <a:rPr dirty="0"/>
              <a:t> </a:t>
            </a:r>
            <a:r>
              <a:rPr dirty="0" err="1"/>
              <a:t>afin</a:t>
            </a:r>
            <a:r>
              <a:rPr dirty="0"/>
              <a:t> de </a:t>
            </a:r>
            <a:r>
              <a:rPr dirty="0" err="1"/>
              <a:t>construire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base exploitable pour le Machine Learning.</a:t>
            </a:r>
          </a:p>
          <a:p>
            <a:pPr>
              <a:defRPr sz="1600"/>
            </a:pPr>
            <a:endParaRPr lang="fr-FR" dirty="0"/>
          </a:p>
          <a:p>
            <a:pPr>
              <a:defRPr sz="1600"/>
            </a:pPr>
            <a:r>
              <a:rPr dirty="0"/>
              <a:t>Le dataset </a:t>
            </a:r>
            <a:r>
              <a:rPr dirty="0" err="1"/>
              <a:t>présente</a:t>
            </a:r>
            <a:r>
              <a:rPr dirty="0"/>
              <a:t> un fort </a:t>
            </a:r>
            <a:r>
              <a:rPr dirty="0" err="1"/>
              <a:t>déséquilibre</a:t>
            </a:r>
            <a:r>
              <a:rPr dirty="0"/>
              <a:t> de classes avec peu de clients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défaut</a:t>
            </a:r>
            <a:r>
              <a:rPr dirty="0"/>
              <a:t>.</a:t>
            </a:r>
          </a:p>
          <a:p>
            <a:pPr>
              <a:defRPr sz="1600"/>
            </a:pPr>
            <a:endParaRPr lang="fr-FR" dirty="0"/>
          </a:p>
          <a:p>
            <a:pPr>
              <a:defRPr sz="1600"/>
            </a:pPr>
            <a:r>
              <a:rPr dirty="0"/>
              <a:t>Une </a:t>
            </a:r>
            <a:r>
              <a:rPr dirty="0" err="1"/>
              <a:t>séparation</a:t>
            </a:r>
            <a:r>
              <a:rPr dirty="0"/>
              <a:t> train/test </a:t>
            </a:r>
            <a:r>
              <a:rPr dirty="0" err="1"/>
              <a:t>stricte</a:t>
            </a:r>
            <a:r>
              <a:rPr dirty="0"/>
              <a:t>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réalisée</a:t>
            </a:r>
            <a:r>
              <a:rPr dirty="0"/>
              <a:t> avant toute </a:t>
            </a:r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afin</a:t>
            </a:r>
            <a:r>
              <a:rPr dirty="0"/>
              <a:t> </a:t>
            </a:r>
            <a:r>
              <a:rPr dirty="0" err="1"/>
              <a:t>d’éviter</a:t>
            </a:r>
            <a:r>
              <a:rPr dirty="0"/>
              <a:t> le data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6202836" cy="567030"/>
          </a:xfrm>
        </p:spPr>
        <p:txBody>
          <a:bodyPr>
            <a:normAutofit fontScale="90000"/>
          </a:bodyPr>
          <a:lstStyle/>
          <a:p>
            <a:r>
              <a:rPr sz="3200" dirty="0" err="1"/>
              <a:t>Analyse</a:t>
            </a:r>
            <a:r>
              <a:rPr sz="3200" dirty="0"/>
              <a:t> </a:t>
            </a:r>
            <a:r>
              <a:rPr sz="3200" dirty="0" err="1"/>
              <a:t>exploratoire</a:t>
            </a:r>
            <a:r>
              <a:rPr sz="3200" dirty="0"/>
              <a:t> des données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2961" y="4708688"/>
            <a:ext cx="2854905" cy="208332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defRPr sz="1600"/>
            </a:pPr>
            <a:r>
              <a:rPr sz="1000" dirty="0"/>
              <a:t>Travaux </a:t>
            </a:r>
            <a:r>
              <a:rPr sz="1000" dirty="0" err="1"/>
              <a:t>réalisés</a:t>
            </a:r>
            <a:r>
              <a:rPr sz="1000" dirty="0"/>
              <a:t> :</a:t>
            </a:r>
          </a:p>
          <a:p>
            <a:pPr marL="0" indent="0">
              <a:buNone/>
              <a:defRPr sz="1600"/>
            </a:pPr>
            <a:r>
              <a:rPr lang="fr-FR" sz="1000" dirty="0"/>
              <a:t>	</a:t>
            </a:r>
            <a:r>
              <a:rPr sz="1000" dirty="0"/>
              <a:t>• </a:t>
            </a:r>
            <a:r>
              <a:rPr sz="1000" dirty="0" err="1"/>
              <a:t>Analyse</a:t>
            </a:r>
            <a:r>
              <a:rPr sz="1000" dirty="0"/>
              <a:t> des distributions des variables</a:t>
            </a:r>
          </a:p>
          <a:p>
            <a:pPr marL="0" indent="0">
              <a:buNone/>
              <a:defRPr sz="1600"/>
            </a:pPr>
            <a:r>
              <a:rPr lang="fr-FR" sz="1000" dirty="0"/>
              <a:t>	</a:t>
            </a:r>
            <a:r>
              <a:rPr sz="1000" dirty="0"/>
              <a:t>• </a:t>
            </a:r>
            <a:r>
              <a:rPr sz="1000" dirty="0" err="1"/>
              <a:t>Détection</a:t>
            </a:r>
            <a:r>
              <a:rPr sz="1000" dirty="0"/>
              <a:t> des </a:t>
            </a:r>
            <a:r>
              <a:rPr sz="1000" dirty="0" err="1"/>
              <a:t>valeurs</a:t>
            </a:r>
            <a:r>
              <a:rPr sz="1000" dirty="0"/>
              <a:t> </a:t>
            </a:r>
            <a:r>
              <a:rPr sz="1000" dirty="0" err="1"/>
              <a:t>manquantes</a:t>
            </a:r>
            <a:endParaRPr sz="1000" dirty="0"/>
          </a:p>
          <a:p>
            <a:pPr marL="0" indent="0">
              <a:buNone/>
              <a:defRPr sz="1600"/>
            </a:pPr>
            <a:r>
              <a:rPr lang="fr-FR" sz="1000" dirty="0"/>
              <a:t>	</a:t>
            </a:r>
            <a:r>
              <a:rPr sz="1000" dirty="0"/>
              <a:t>• Étude des </a:t>
            </a:r>
            <a:r>
              <a:rPr sz="1000" dirty="0" err="1"/>
              <a:t>corrélations</a:t>
            </a:r>
            <a:r>
              <a:rPr sz="1000" dirty="0"/>
              <a:t> avec la </a:t>
            </a:r>
            <a:r>
              <a:rPr sz="1000" dirty="0" err="1"/>
              <a:t>cible</a:t>
            </a:r>
            <a:endParaRPr sz="1000" dirty="0"/>
          </a:p>
          <a:p>
            <a:pPr marL="0" indent="0">
              <a:buNone/>
              <a:defRPr sz="1600"/>
            </a:pPr>
            <a:r>
              <a:rPr lang="fr-FR" sz="1000" dirty="0"/>
              <a:t>	</a:t>
            </a:r>
            <a:r>
              <a:rPr sz="1000" dirty="0"/>
              <a:t>• </a:t>
            </a:r>
            <a:r>
              <a:rPr sz="1000" dirty="0" err="1"/>
              <a:t>Analyse</a:t>
            </a:r>
            <a:r>
              <a:rPr sz="1000" dirty="0"/>
              <a:t> du </a:t>
            </a:r>
            <a:r>
              <a:rPr sz="1000" dirty="0" err="1"/>
              <a:t>déséquilibre</a:t>
            </a:r>
            <a:r>
              <a:rPr sz="1000" dirty="0"/>
              <a:t> des classes</a:t>
            </a:r>
          </a:p>
          <a:p>
            <a:pPr marL="0" indent="0">
              <a:buNone/>
              <a:defRPr sz="1600"/>
            </a:pPr>
            <a:r>
              <a:rPr lang="fr-FR" sz="1000" dirty="0"/>
              <a:t>	</a:t>
            </a:r>
          </a:p>
          <a:p>
            <a:pPr marL="0" indent="0">
              <a:buNone/>
              <a:defRPr sz="1600"/>
            </a:pPr>
            <a:endParaRPr sz="1000" dirty="0"/>
          </a:p>
          <a:p>
            <a:pPr>
              <a:defRPr sz="1600"/>
            </a:pPr>
            <a:r>
              <a:rPr sz="1000" dirty="0"/>
              <a:t>Les analyses </a:t>
            </a:r>
            <a:r>
              <a:rPr sz="1000" dirty="0" err="1"/>
              <a:t>ont</a:t>
            </a:r>
            <a:r>
              <a:rPr sz="1000" dirty="0"/>
              <a:t> </a:t>
            </a:r>
            <a:r>
              <a:rPr sz="1000" dirty="0" err="1"/>
              <a:t>été</a:t>
            </a:r>
            <a:r>
              <a:rPr sz="1000" dirty="0"/>
              <a:t> </a:t>
            </a:r>
            <a:r>
              <a:rPr sz="1000" dirty="0" err="1"/>
              <a:t>réalisées</a:t>
            </a:r>
            <a:r>
              <a:rPr sz="1000" dirty="0"/>
              <a:t> </a:t>
            </a:r>
            <a:r>
              <a:rPr sz="1000" dirty="0" err="1"/>
              <a:t>uniquement</a:t>
            </a:r>
            <a:r>
              <a:rPr sz="1000" dirty="0"/>
              <a:t> sur le dataset </a:t>
            </a:r>
            <a:r>
              <a:rPr sz="1000" dirty="0" err="1"/>
              <a:t>d’entraînement</a:t>
            </a:r>
            <a:r>
              <a:rPr sz="1000" dirty="0"/>
              <a:t> </a:t>
            </a:r>
            <a:r>
              <a:rPr sz="1000" dirty="0" err="1"/>
              <a:t>afin</a:t>
            </a:r>
            <a:r>
              <a:rPr sz="1000" dirty="0"/>
              <a:t> de </a:t>
            </a:r>
            <a:r>
              <a:rPr sz="1000" dirty="0" err="1"/>
              <a:t>préserver</a:t>
            </a:r>
            <a:r>
              <a:rPr sz="1000" dirty="0"/>
              <a:t> la </a:t>
            </a:r>
            <a:r>
              <a:rPr sz="1000" dirty="0" err="1"/>
              <a:t>validité</a:t>
            </a:r>
            <a:r>
              <a:rPr sz="1000" dirty="0"/>
              <a:t> des </a:t>
            </a:r>
            <a:r>
              <a:rPr sz="1000" dirty="0" err="1"/>
              <a:t>évaluations</a:t>
            </a:r>
            <a:endParaRPr sz="1000" dirty="0"/>
          </a:p>
        </p:txBody>
      </p:sp>
      <p:pic>
        <p:nvPicPr>
          <p:cNvPr id="4" name="Picture 3" descr="01_feature_engineering_clean_train_te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8" y="3548650"/>
            <a:ext cx="2355705" cy="129183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9981D5B-F1A2-CAEB-9716-02ADE5498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98" y="765054"/>
            <a:ext cx="5521623" cy="17951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3" descr="cell_9_0.png">
            <a:extLst>
              <a:ext uri="{FF2B5EF4-FFF2-40B4-BE49-F238E27FC236}">
                <a16:creationId xmlns:a16="http://schemas.microsoft.com/office/drawing/2014/main" id="{4DA3BB37-83D4-5A0C-042A-0D9A4690C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27" y="670786"/>
            <a:ext cx="3229775" cy="35237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3" descr="cell_10_1.png">
            <a:extLst>
              <a:ext uri="{FF2B5EF4-FFF2-40B4-BE49-F238E27FC236}">
                <a16:creationId xmlns:a16="http://schemas.microsoft.com/office/drawing/2014/main" id="{8EDEACC5-6C44-2DCD-9C88-CFD55AFDD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912" y="3234564"/>
            <a:ext cx="3191257" cy="28583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1AF0222-9E3D-453E-2F85-9242FBF4D1B3}"/>
              </a:ext>
            </a:extLst>
          </p:cNvPr>
          <p:cNvSpPr txBox="1"/>
          <p:nvPr/>
        </p:nvSpPr>
        <p:spPr>
          <a:xfrm>
            <a:off x="68166" y="6145680"/>
            <a:ext cx="457924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 dirty="0">
                <a:effectLst/>
                <a:latin typeface="menlo"/>
              </a:rPr>
              <a:t>Train raw shape: (99999, 122)</a:t>
            </a:r>
          </a:p>
          <a:p>
            <a:pPr algn="l" latinLnBrk="1">
              <a:buNone/>
            </a:pPr>
            <a:r>
              <a:rPr lang="en-US" b="0" i="0" dirty="0">
                <a:effectLst/>
                <a:latin typeface="menlo"/>
              </a:rPr>
              <a:t>Test raw shape (sans TARGET) : (48744, 121)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55" y="1082408"/>
            <a:ext cx="8682757" cy="2118511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defRPr sz="1600"/>
            </a:pPr>
            <a:r>
              <a:rPr dirty="0"/>
              <a:t>Une étape </a:t>
            </a:r>
            <a:r>
              <a:rPr dirty="0" err="1"/>
              <a:t>importante</a:t>
            </a:r>
            <a:r>
              <a:rPr dirty="0"/>
              <a:t> du </a:t>
            </a:r>
            <a:r>
              <a:rPr dirty="0" err="1"/>
              <a:t>projet</a:t>
            </a:r>
            <a:r>
              <a:rPr dirty="0"/>
              <a:t> a </a:t>
            </a:r>
            <a:r>
              <a:rPr dirty="0" err="1"/>
              <a:t>consisté</a:t>
            </a:r>
            <a:r>
              <a:rPr dirty="0"/>
              <a:t> à </a:t>
            </a:r>
            <a:r>
              <a:rPr dirty="0" err="1"/>
              <a:t>créer</a:t>
            </a:r>
            <a:r>
              <a:rPr dirty="0"/>
              <a:t> de </a:t>
            </a:r>
            <a:r>
              <a:rPr dirty="0" err="1"/>
              <a:t>nouvelles</a:t>
            </a:r>
            <a:r>
              <a:rPr dirty="0"/>
              <a:t> variables métier </a:t>
            </a:r>
            <a:r>
              <a:rPr dirty="0" err="1"/>
              <a:t>pertinentes</a:t>
            </a:r>
            <a:r>
              <a:rPr dirty="0"/>
              <a:t>.</a:t>
            </a:r>
          </a:p>
          <a:p>
            <a:pPr>
              <a:defRPr sz="1600"/>
            </a:pPr>
            <a:r>
              <a:rPr dirty="0" err="1"/>
              <a:t>Exemples</a:t>
            </a:r>
            <a:r>
              <a:rPr dirty="0"/>
              <a:t> de features </a:t>
            </a:r>
            <a:r>
              <a:rPr dirty="0" err="1"/>
              <a:t>créées</a:t>
            </a:r>
            <a:r>
              <a:rPr dirty="0"/>
              <a:t> :</a:t>
            </a:r>
          </a:p>
          <a:p>
            <a:pPr>
              <a:defRPr sz="1600"/>
            </a:pPr>
            <a:r>
              <a:rPr dirty="0"/>
              <a:t>• Ratio </a:t>
            </a:r>
            <a:r>
              <a:rPr dirty="0" err="1"/>
              <a:t>revenu</a:t>
            </a:r>
            <a:r>
              <a:rPr dirty="0"/>
              <a:t> / </a:t>
            </a:r>
            <a:r>
              <a:rPr dirty="0" err="1"/>
              <a:t>montant</a:t>
            </a:r>
            <a:r>
              <a:rPr dirty="0"/>
              <a:t> du </a:t>
            </a:r>
            <a:r>
              <a:rPr dirty="0" err="1"/>
              <a:t>crédit</a:t>
            </a:r>
            <a:endParaRPr dirty="0"/>
          </a:p>
          <a:p>
            <a:pPr>
              <a:defRPr sz="1600"/>
            </a:pPr>
            <a:r>
              <a:rPr dirty="0"/>
              <a:t>• Ratio </a:t>
            </a:r>
            <a:r>
              <a:rPr dirty="0" err="1"/>
              <a:t>annuité</a:t>
            </a:r>
            <a:r>
              <a:rPr dirty="0"/>
              <a:t> / </a:t>
            </a:r>
            <a:r>
              <a:rPr dirty="0" err="1"/>
              <a:t>revenu</a:t>
            </a:r>
            <a:endParaRPr dirty="0"/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Ancienneté</a:t>
            </a:r>
            <a:r>
              <a:rPr dirty="0"/>
              <a:t> </a:t>
            </a:r>
            <a:r>
              <a:rPr dirty="0" err="1"/>
              <a:t>emploi</a:t>
            </a:r>
            <a:r>
              <a:rPr dirty="0"/>
              <a:t> / </a:t>
            </a:r>
            <a:r>
              <a:rPr dirty="0" err="1"/>
              <a:t>âge</a:t>
            </a:r>
            <a:endParaRPr dirty="0"/>
          </a:p>
          <a:p>
            <a:pPr>
              <a:defRPr sz="1600"/>
            </a:pPr>
            <a:r>
              <a:rPr dirty="0"/>
              <a:t>• Agrégations </a:t>
            </a:r>
            <a:r>
              <a:rPr dirty="0" err="1"/>
              <a:t>statistiques</a:t>
            </a:r>
            <a:r>
              <a:rPr dirty="0"/>
              <a:t> sur les </a:t>
            </a:r>
            <a:r>
              <a:rPr dirty="0" err="1"/>
              <a:t>crédits</a:t>
            </a:r>
            <a:r>
              <a:rPr dirty="0"/>
              <a:t> </a:t>
            </a:r>
            <a:r>
              <a:rPr dirty="0" err="1"/>
              <a:t>précédents</a:t>
            </a:r>
            <a:endParaRPr lang="fr-FR" dirty="0"/>
          </a:p>
          <a:p>
            <a:pPr>
              <a:defRPr sz="1600"/>
            </a:pPr>
            <a:endParaRPr lang="fr-FR" dirty="0"/>
          </a:p>
          <a:p>
            <a:pPr>
              <a:defRPr sz="1600"/>
            </a:pPr>
            <a:endParaRPr dirty="0"/>
          </a:p>
        </p:txBody>
      </p:sp>
      <p:pic>
        <p:nvPicPr>
          <p:cNvPr id="4" name="Picture 3" descr="01_feature_engineering_clean_train_tes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46" y="4149344"/>
            <a:ext cx="3657600" cy="200578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5734226-8F2D-0B3B-E342-66784792E082}"/>
              </a:ext>
            </a:extLst>
          </p:cNvPr>
          <p:cNvSpPr txBox="1"/>
          <p:nvPr/>
        </p:nvSpPr>
        <p:spPr>
          <a:xfrm>
            <a:off x="4760400" y="1771211"/>
            <a:ext cx="42128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FR" sz="1200" dirty="0"/>
              <a:t>RATIO_CREDIT_INCOME= AMT_CREDIT / AMT_INCOME_TOTAL</a:t>
            </a:r>
          </a:p>
          <a:p>
            <a:r>
              <a:rPr lang="fr-FR" sz="1200" dirty="0"/>
              <a:t>RATIO_ANNUITY_CREDIT = AMT_ANNUITY / AMT_CREDIT</a:t>
            </a:r>
          </a:p>
          <a:p>
            <a:r>
              <a:rPr lang="fr-FR" sz="1200" dirty="0"/>
              <a:t>RATIO_EMPLOYED_BIRTH = DAYS_EMPLOYED / DAYS_BIRTH</a:t>
            </a:r>
          </a:p>
        </p:txBody>
      </p:sp>
      <p:pic>
        <p:nvPicPr>
          <p:cNvPr id="7" name="Picture 3" descr="cell_16_0.png">
            <a:extLst>
              <a:ext uri="{FF2B5EF4-FFF2-40B4-BE49-F238E27FC236}">
                <a16:creationId xmlns:a16="http://schemas.microsoft.com/office/drawing/2014/main" id="{0DDB10C5-3723-942F-C8C1-B478A0A57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585" y="4145113"/>
            <a:ext cx="3648270" cy="2005781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5AC0E26E-9D95-A13F-73F4-32E1F106D2B1}"/>
              </a:ext>
            </a:extLst>
          </p:cNvPr>
          <p:cNvSpPr/>
          <p:nvPr/>
        </p:nvSpPr>
        <p:spPr>
          <a:xfrm>
            <a:off x="4219735" y="5054361"/>
            <a:ext cx="408737" cy="18728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A0775AE-E5FB-82AA-63F5-E62D564EE68E}"/>
              </a:ext>
            </a:extLst>
          </p:cNvPr>
          <p:cNvSpPr txBox="1">
            <a:spLocks/>
          </p:cNvSpPr>
          <p:nvPr/>
        </p:nvSpPr>
        <p:spPr>
          <a:xfrm>
            <a:off x="-110169" y="-1"/>
            <a:ext cx="3844887" cy="736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 err="1"/>
              <a:t>Feature</a:t>
            </a:r>
            <a:r>
              <a:rPr lang="fr-FR" sz="3200" dirty="0"/>
              <a:t> Engineering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8C1AFEF-0B8E-B1EE-B3A2-08C749EDA12B}"/>
              </a:ext>
            </a:extLst>
          </p:cNvPr>
          <p:cNvSpPr txBox="1"/>
          <p:nvPr/>
        </p:nvSpPr>
        <p:spPr>
          <a:xfrm>
            <a:off x="395255" y="3657081"/>
            <a:ext cx="462856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fr-FR" dirty="0"/>
              <a:t>• Analyse et gestion des valeurs aberrantes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30" y="1028700"/>
            <a:ext cx="3453788" cy="5715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sz="2000" dirty="0" err="1"/>
              <a:t>Encodage</a:t>
            </a:r>
            <a:r>
              <a:rPr sz="2000" dirty="0"/>
              <a:t> et </a:t>
            </a:r>
            <a:r>
              <a:rPr sz="2000" dirty="0" err="1"/>
              <a:t>normalisation</a:t>
            </a:r>
            <a:endParaRPr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706299" cy="93368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defRPr sz="1800"/>
            </a:pPr>
            <a:r>
              <a:rPr sz="1600" dirty="0"/>
              <a:t>Variables </a:t>
            </a:r>
            <a:r>
              <a:rPr sz="1600" dirty="0" err="1"/>
              <a:t>catégorielles</a:t>
            </a:r>
            <a:r>
              <a:rPr sz="1600" dirty="0"/>
              <a:t> </a:t>
            </a:r>
            <a:r>
              <a:rPr sz="1600" dirty="0" err="1"/>
              <a:t>transformées</a:t>
            </a:r>
            <a:r>
              <a:rPr sz="1600" dirty="0"/>
              <a:t> avec </a:t>
            </a:r>
            <a:r>
              <a:rPr sz="1600" dirty="0" err="1"/>
              <a:t>OneHotEncoder</a:t>
            </a:r>
            <a:r>
              <a:rPr sz="1600" dirty="0"/>
              <a:t>.</a:t>
            </a:r>
          </a:p>
          <a:p>
            <a:pPr>
              <a:defRPr sz="1800"/>
            </a:pPr>
            <a:r>
              <a:rPr sz="1600" dirty="0" err="1"/>
              <a:t>Normalisation</a:t>
            </a:r>
            <a:r>
              <a:rPr sz="1600" dirty="0"/>
              <a:t> </a:t>
            </a:r>
            <a:r>
              <a:rPr sz="1600" dirty="0" err="1"/>
              <a:t>appliquée</a:t>
            </a:r>
            <a:r>
              <a:rPr sz="1600" dirty="0"/>
              <a:t> </a:t>
            </a:r>
            <a:r>
              <a:rPr sz="1600" dirty="0" err="1"/>
              <a:t>selon</a:t>
            </a:r>
            <a:r>
              <a:rPr sz="1600" dirty="0"/>
              <a:t> les </a:t>
            </a:r>
            <a:r>
              <a:rPr sz="1600" dirty="0" err="1"/>
              <a:t>besoins</a:t>
            </a:r>
            <a:r>
              <a:rPr sz="1600" dirty="0"/>
              <a:t> des </a:t>
            </a:r>
            <a:r>
              <a:rPr sz="1600" dirty="0" err="1"/>
              <a:t>modèles</a:t>
            </a:r>
            <a:r>
              <a:rPr sz="1600" dirty="0"/>
              <a:t>.</a:t>
            </a:r>
          </a:p>
          <a:p>
            <a:pPr>
              <a:defRPr sz="1800"/>
            </a:pPr>
            <a:r>
              <a:rPr sz="1600" dirty="0"/>
              <a:t>Transformation </a:t>
            </a:r>
            <a:r>
              <a:rPr sz="1600" dirty="0" err="1"/>
              <a:t>logarithmique</a:t>
            </a:r>
            <a:r>
              <a:rPr sz="1600" dirty="0"/>
              <a:t> pour </a:t>
            </a:r>
            <a:r>
              <a:rPr sz="1600" dirty="0" err="1"/>
              <a:t>réduire</a:t>
            </a:r>
            <a:r>
              <a:rPr sz="1600" dirty="0"/>
              <a:t> les distributions </a:t>
            </a:r>
            <a:r>
              <a:rPr sz="1600" dirty="0" err="1"/>
              <a:t>asymétriques</a:t>
            </a:r>
            <a:r>
              <a:rPr lang="fr-FR" sz="1600" dirty="0"/>
              <a:t>, si besoin</a:t>
            </a:r>
            <a:endParaRPr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A0190C-5C0D-C02F-2EBF-6AE0E4D9E949}"/>
              </a:ext>
            </a:extLst>
          </p:cNvPr>
          <p:cNvSpPr txBox="1">
            <a:spLocks/>
          </p:cNvSpPr>
          <p:nvPr/>
        </p:nvSpPr>
        <p:spPr>
          <a:xfrm>
            <a:off x="-110169" y="-1"/>
            <a:ext cx="3844887" cy="736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 err="1"/>
              <a:t>Feature</a:t>
            </a:r>
            <a:r>
              <a:rPr lang="fr-FR" sz="3200" dirty="0"/>
              <a:t> Engineering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C7182E-C9BD-532A-14EE-CAB35AE1F055}"/>
              </a:ext>
            </a:extLst>
          </p:cNvPr>
          <p:cNvSpPr txBox="1">
            <a:spLocks/>
          </p:cNvSpPr>
          <p:nvPr/>
        </p:nvSpPr>
        <p:spPr>
          <a:xfrm>
            <a:off x="371820" y="4803354"/>
            <a:ext cx="4365433" cy="4544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dirty="0"/>
              <a:t>SMOTE (</a:t>
            </a:r>
            <a:r>
              <a:rPr lang="fr-FR" sz="1400" dirty="0" err="1"/>
              <a:t>Synthetic</a:t>
            </a:r>
            <a:r>
              <a:rPr lang="fr-FR" sz="1400" dirty="0"/>
              <a:t> </a:t>
            </a:r>
            <a:r>
              <a:rPr lang="fr-FR" sz="1400" dirty="0" err="1"/>
              <a:t>Minority</a:t>
            </a:r>
            <a:r>
              <a:rPr lang="fr-FR" sz="1400" dirty="0"/>
              <a:t> Over-sampling Technique)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CBA0FE-8B7C-8FD7-90C4-3FF3403C3317}"/>
              </a:ext>
            </a:extLst>
          </p:cNvPr>
          <p:cNvSpPr txBox="1">
            <a:spLocks/>
          </p:cNvSpPr>
          <p:nvPr/>
        </p:nvSpPr>
        <p:spPr>
          <a:xfrm>
            <a:off x="609600" y="5257799"/>
            <a:ext cx="8457281" cy="14735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fr-FR" sz="2000" dirty="0"/>
              <a:t>+</a:t>
            </a:r>
            <a:r>
              <a:rPr lang="fr-FR" sz="1400" dirty="0"/>
              <a:t> Le </a:t>
            </a:r>
            <a:r>
              <a:rPr lang="fr-FR" sz="1400" dirty="0" err="1"/>
              <a:t>dataset</a:t>
            </a:r>
            <a:r>
              <a:rPr lang="fr-FR" sz="1400" dirty="0"/>
              <a:t> étant fortement déséquilibré, la technique SMOTE a été </a:t>
            </a:r>
            <a:r>
              <a:rPr lang="fr-FR" sz="1400" dirty="0" err="1"/>
              <a:t>analisée</a:t>
            </a:r>
            <a:r>
              <a:rPr lang="fr-FR" sz="1400" dirty="0"/>
              <a:t> pour rééquilibrer les classes pendant l’entraînement. </a:t>
            </a:r>
          </a:p>
          <a:p>
            <a:pPr>
              <a:defRPr sz="1800"/>
            </a:pPr>
            <a:r>
              <a:rPr lang="fr-FR" sz="2000" dirty="0"/>
              <a:t>+</a:t>
            </a:r>
            <a:r>
              <a:rPr lang="fr-FR" sz="1400" dirty="0"/>
              <a:t> SMOTE génère artificiellement de nouveaux exemples de la classe minoritaire (TARGET = 1) à partir des observations existantes. </a:t>
            </a:r>
          </a:p>
          <a:p>
            <a:pPr>
              <a:defRPr sz="1800"/>
            </a:pPr>
            <a:r>
              <a:rPr lang="fr-FR" sz="2000" dirty="0"/>
              <a:t>-</a:t>
            </a:r>
            <a:r>
              <a:rPr lang="fr-FR" sz="1400" dirty="0"/>
              <a:t> SMOTE peut générer des observations synthétiques peu réalistes et ajouter du bruit dans les données.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F4B4F93-2462-CF03-3427-91EB33C913C4}"/>
              </a:ext>
            </a:extLst>
          </p:cNvPr>
          <p:cNvSpPr txBox="1">
            <a:spLocks/>
          </p:cNvSpPr>
          <p:nvPr/>
        </p:nvSpPr>
        <p:spPr>
          <a:xfrm>
            <a:off x="317654" y="2825829"/>
            <a:ext cx="3453788" cy="5944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dirty="0"/>
              <a:t>Prévention du Data </a:t>
            </a:r>
            <a:r>
              <a:rPr lang="fr-FR" sz="2000" dirty="0" err="1"/>
              <a:t>Leakage</a:t>
            </a:r>
            <a:endParaRPr lang="fr-FR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4DA282B-84FA-F221-2E4D-7C993C47630D}"/>
              </a:ext>
            </a:extLst>
          </p:cNvPr>
          <p:cNvSpPr txBox="1">
            <a:spLocks/>
          </p:cNvSpPr>
          <p:nvPr/>
        </p:nvSpPr>
        <p:spPr>
          <a:xfrm>
            <a:off x="609601" y="3420279"/>
            <a:ext cx="7706298" cy="100666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fr-FR" sz="1600" dirty="0"/>
              <a:t>Toutes les transformations sont intégrées dans des pipelines </a:t>
            </a:r>
            <a:r>
              <a:rPr lang="fr-FR" sz="1600" dirty="0" err="1"/>
              <a:t>sklearn</a:t>
            </a:r>
            <a:r>
              <a:rPr lang="fr-FR" sz="1600" dirty="0"/>
              <a:t>.</a:t>
            </a:r>
          </a:p>
          <a:p>
            <a:pPr>
              <a:defRPr sz="1800"/>
            </a:pPr>
            <a:r>
              <a:rPr lang="fr-FR" sz="1600" dirty="0"/>
              <a:t>Le </a:t>
            </a:r>
            <a:r>
              <a:rPr lang="fr-FR" sz="1600" dirty="0" err="1"/>
              <a:t>preprocessing</a:t>
            </a:r>
            <a:r>
              <a:rPr lang="fr-FR" sz="1600" dirty="0"/>
              <a:t> est appris uniquement sur le train.</a:t>
            </a:r>
          </a:p>
          <a:p>
            <a:pPr>
              <a:defRPr sz="1800"/>
            </a:pPr>
            <a:r>
              <a:rPr lang="fr-FR" sz="1600" dirty="0"/>
              <a:t>Les données test et production ne contaminent jamais l’entraînement.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4173"/>
            <a:ext cx="4076240" cy="479921"/>
          </a:xfrm>
        </p:spPr>
        <p:txBody>
          <a:bodyPr>
            <a:normAutofit fontScale="90000"/>
          </a:bodyPr>
          <a:lstStyle/>
          <a:p>
            <a:r>
              <a:rPr sz="3200" dirty="0" err="1"/>
              <a:t>Stratégie</a:t>
            </a:r>
            <a:r>
              <a:rPr sz="3200" dirty="0"/>
              <a:t> de </a:t>
            </a:r>
            <a:r>
              <a:rPr sz="3200" dirty="0" err="1"/>
              <a:t>modélisation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352" y="1169168"/>
            <a:ext cx="5712246" cy="84190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defRPr sz="1800"/>
            </a:pPr>
            <a:r>
              <a:rPr sz="1200" dirty="0" err="1"/>
              <a:t>Comparaison</a:t>
            </a:r>
            <a:r>
              <a:rPr sz="1200" dirty="0"/>
              <a:t> progressive des </a:t>
            </a:r>
            <a:r>
              <a:rPr sz="1200" dirty="0" err="1"/>
              <a:t>modèles</a:t>
            </a:r>
            <a:r>
              <a:rPr sz="1200" dirty="0"/>
              <a:t> simples vers complexes.</a:t>
            </a:r>
          </a:p>
          <a:p>
            <a:pPr>
              <a:defRPr sz="1800"/>
            </a:pPr>
            <a:r>
              <a:rPr sz="1200" dirty="0" err="1"/>
              <a:t>DummyClassifier</a:t>
            </a:r>
            <a:r>
              <a:rPr sz="1200" dirty="0"/>
              <a:t> </a:t>
            </a:r>
            <a:r>
              <a:rPr sz="1200" dirty="0" err="1"/>
              <a:t>utilisé</a:t>
            </a:r>
            <a:r>
              <a:rPr sz="1200" dirty="0"/>
              <a:t> </a:t>
            </a:r>
            <a:r>
              <a:rPr sz="1200" dirty="0" err="1"/>
              <a:t>comme</a:t>
            </a:r>
            <a:r>
              <a:rPr sz="1200" dirty="0"/>
              <a:t> baseline.</a:t>
            </a:r>
          </a:p>
          <a:p>
            <a:pPr>
              <a:defRPr sz="1800"/>
            </a:pPr>
            <a:r>
              <a:rPr sz="1200" dirty="0"/>
              <a:t>Tests </a:t>
            </a:r>
            <a:r>
              <a:rPr sz="1200" dirty="0" err="1"/>
              <a:t>réalisés</a:t>
            </a:r>
            <a:r>
              <a:rPr sz="1200" dirty="0"/>
              <a:t> sur </a:t>
            </a:r>
            <a:r>
              <a:rPr sz="1200" dirty="0" err="1"/>
              <a:t>Régression</a:t>
            </a:r>
            <a:r>
              <a:rPr sz="1200" dirty="0"/>
              <a:t> </a:t>
            </a:r>
            <a:r>
              <a:rPr sz="1200" dirty="0" err="1"/>
              <a:t>Logistique</a:t>
            </a:r>
            <a:r>
              <a:rPr sz="1200" dirty="0"/>
              <a:t>, </a:t>
            </a:r>
            <a:r>
              <a:rPr sz="1200" dirty="0" err="1"/>
              <a:t>RandomForest</a:t>
            </a:r>
            <a:r>
              <a:rPr sz="1200" dirty="0"/>
              <a:t>, </a:t>
            </a:r>
            <a:r>
              <a:rPr sz="1200" dirty="0" err="1"/>
              <a:t>XGBoost</a:t>
            </a:r>
            <a:r>
              <a:rPr sz="1200" dirty="0"/>
              <a:t> et </a:t>
            </a:r>
            <a:r>
              <a:rPr sz="1200" dirty="0" err="1"/>
              <a:t>LightGBM</a:t>
            </a:r>
            <a:r>
              <a:rPr sz="1600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2626" y="2271646"/>
            <a:ext cx="2407186" cy="3560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dirty="0"/>
              <a:t>Validation croisée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0081" y="2641495"/>
            <a:ext cx="5888517" cy="86935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fr-FR" sz="1200" dirty="0"/>
              <a:t>Cross-validation réalisée sur le </a:t>
            </a:r>
            <a:r>
              <a:rPr lang="fr-FR" sz="1200" dirty="0" err="1"/>
              <a:t>dataset</a:t>
            </a:r>
            <a:r>
              <a:rPr lang="fr-FR" sz="1200" dirty="0"/>
              <a:t> train.</a:t>
            </a:r>
          </a:p>
          <a:p>
            <a:pPr>
              <a:defRPr sz="1800"/>
            </a:pPr>
            <a:r>
              <a:rPr lang="fr-FR" sz="1200" dirty="0" err="1"/>
              <a:t>GridSearchCV</a:t>
            </a:r>
            <a:r>
              <a:rPr lang="fr-FR" sz="1200" dirty="0"/>
              <a:t> utilisé pour optimiser les hyperparamètres.</a:t>
            </a:r>
          </a:p>
          <a:p>
            <a:pPr>
              <a:defRPr sz="1800"/>
            </a:pPr>
            <a:r>
              <a:rPr lang="fr-FR" sz="1200" dirty="0"/>
              <a:t>Recherche affinée pour le modèle final retenu.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00686-A36E-F0A6-F0FA-DA69FD38AE1D}"/>
              </a:ext>
            </a:extLst>
          </p:cNvPr>
          <p:cNvSpPr txBox="1">
            <a:spLocks/>
          </p:cNvSpPr>
          <p:nvPr/>
        </p:nvSpPr>
        <p:spPr>
          <a:xfrm>
            <a:off x="82626" y="793324"/>
            <a:ext cx="4445306" cy="36207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dirty="0"/>
              <a:t>Choix des modèles de prédiction supervisés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2626" y="3767568"/>
            <a:ext cx="2330068" cy="344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dirty="0"/>
              <a:t>Score métier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80082" y="4120041"/>
            <a:ext cx="5888516" cy="7181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fr-FR" sz="1200" dirty="0"/>
              <a:t>Création d’un score métier personnalisé.</a:t>
            </a:r>
          </a:p>
          <a:p>
            <a:pPr>
              <a:defRPr sz="1800"/>
            </a:pPr>
            <a:r>
              <a:rPr lang="fr-FR" sz="1200" dirty="0"/>
              <a:t>Le coût d’un faux négatif est volontairement pénalisé davantage.</a:t>
            </a:r>
          </a:p>
          <a:p>
            <a:pPr>
              <a:defRPr sz="1800"/>
            </a:pPr>
            <a:r>
              <a:rPr lang="fr-FR" sz="1200" dirty="0"/>
              <a:t>Le seuil de décision est optimisé selon le contexte métier.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3D9DF2-9344-75CC-038D-8CCEB7F23A2C}"/>
              </a:ext>
            </a:extLst>
          </p:cNvPr>
          <p:cNvSpPr txBox="1"/>
          <p:nvPr/>
        </p:nvSpPr>
        <p:spPr>
          <a:xfrm>
            <a:off x="380082" y="4838223"/>
            <a:ext cx="4809879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FR" sz="2000" dirty="0"/>
              <a:t>Business score = métrique métier principale</a:t>
            </a:r>
          </a:p>
          <a:p>
            <a:r>
              <a:rPr lang="fr-FR" sz="2000" dirty="0"/>
              <a:t>F1 = métrique technique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8F73E2E-6368-9E00-238F-A4DBBA98E984}"/>
              </a:ext>
            </a:extLst>
          </p:cNvPr>
          <p:cNvSpPr txBox="1"/>
          <p:nvPr/>
        </p:nvSpPr>
        <p:spPr>
          <a:xfrm>
            <a:off x="2940132" y="5535586"/>
            <a:ext cx="5823786" cy="6520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confusion_matrix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y_pred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ravel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Business_score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10.0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sz="20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fn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</a:t>
            </a:r>
            <a:r>
              <a:rPr lang="en-US" sz="20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1.0</a:t>
            </a:r>
            <a:r>
              <a:rPr lang="en-US" sz="2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sz="2000" b="0" dirty="0" err="1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fp</a:t>
            </a:r>
            <a:endParaRPr lang="en-US" sz="20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D9B07FD0-0DED-478C-5A30-B08938202634}"/>
              </a:ext>
            </a:extLst>
          </p:cNvPr>
          <p:cNvGrpSpPr/>
          <p:nvPr/>
        </p:nvGrpSpPr>
        <p:grpSpPr>
          <a:xfrm>
            <a:off x="2940132" y="6232949"/>
            <a:ext cx="3955057" cy="652038"/>
            <a:chOff x="4516924" y="4842393"/>
            <a:chExt cx="4349629" cy="848987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07381B3F-FCC1-FD58-09DB-D5DF41365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16924" y="4842393"/>
              <a:ext cx="4048690" cy="70494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5320BD99-4ED6-1AAA-8CF0-498F23A0935B}"/>
                </a:ext>
              </a:extLst>
            </p:cNvPr>
            <p:cNvGrpSpPr/>
            <p:nvPr/>
          </p:nvGrpSpPr>
          <p:grpSpPr>
            <a:xfrm>
              <a:off x="6541269" y="5071383"/>
              <a:ext cx="2325284" cy="619997"/>
              <a:chOff x="6594689" y="4956881"/>
              <a:chExt cx="2325284" cy="619997"/>
            </a:xfrm>
          </p:grpSpPr>
          <p:pic>
            <p:nvPicPr>
              <p:cNvPr id="13" name="Image 12">
                <a:extLst>
                  <a:ext uri="{FF2B5EF4-FFF2-40B4-BE49-F238E27FC236}">
                    <a16:creationId xmlns:a16="http://schemas.microsoft.com/office/drawing/2014/main" id="{D2AE5760-AB7D-95C8-4A64-8B55B2F414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94689" y="4964941"/>
                <a:ext cx="1043206" cy="611937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9BEF0B53-4DE3-F566-09DD-A7BC89EDA0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37895" y="4956881"/>
                <a:ext cx="1282078" cy="51283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</p:pic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4213781" cy="457199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sz="3200" dirty="0" err="1"/>
              <a:t>Comparaison</a:t>
            </a:r>
            <a:r>
              <a:rPr sz="3200" dirty="0"/>
              <a:t> des </a:t>
            </a:r>
            <a:r>
              <a:rPr sz="3200" dirty="0" err="1"/>
              <a:t>modèles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96" y="890640"/>
            <a:ext cx="8229600" cy="4525963"/>
          </a:xfrm>
        </p:spPr>
        <p:txBody>
          <a:bodyPr/>
          <a:lstStyle/>
          <a:p>
            <a:pPr>
              <a:defRPr sz="1800"/>
            </a:pPr>
            <a:r>
              <a:rPr dirty="0" err="1"/>
              <a:t>Analyse</a:t>
            </a:r>
            <a:r>
              <a:rPr dirty="0"/>
              <a:t> des performances : AUC, score métier, temps </a:t>
            </a:r>
            <a:r>
              <a:rPr dirty="0" err="1"/>
              <a:t>d’entraînement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Comparaison</a:t>
            </a:r>
            <a:r>
              <a:rPr dirty="0"/>
              <a:t> des </a:t>
            </a:r>
            <a:r>
              <a:rPr dirty="0" err="1"/>
              <a:t>compromis</a:t>
            </a:r>
            <a:r>
              <a:rPr dirty="0"/>
              <a:t> </a:t>
            </a:r>
            <a:r>
              <a:rPr dirty="0" err="1"/>
              <a:t>précision</a:t>
            </a:r>
            <a:r>
              <a:rPr dirty="0"/>
              <a:t>/</a:t>
            </a:r>
            <a:r>
              <a:rPr dirty="0" err="1"/>
              <a:t>interprétabilité</a:t>
            </a:r>
            <a:r>
              <a:rPr dirty="0"/>
              <a:t>/performance.</a:t>
            </a:r>
          </a:p>
          <a:p>
            <a:pPr>
              <a:defRPr sz="1800"/>
            </a:pPr>
            <a:r>
              <a:rPr dirty="0" err="1"/>
              <a:t>Détection</a:t>
            </a:r>
            <a:r>
              <a:rPr dirty="0"/>
              <a:t> de </a:t>
            </a:r>
            <a:r>
              <a:rPr dirty="0" err="1"/>
              <a:t>l’overfitting</a:t>
            </a:r>
            <a:r>
              <a:rPr dirty="0"/>
              <a:t> grâce au train/test et à la cross-validation.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D19C0C-A9DD-22D1-F53C-5FF5B7545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2" y="2646806"/>
            <a:ext cx="8869516" cy="39393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itle 1">
            <a:hlinkClick r:id="rId3"/>
            <a:extLst>
              <a:ext uri="{FF2B5EF4-FFF2-40B4-BE49-F238E27FC236}">
                <a16:creationId xmlns:a16="http://schemas.microsoft.com/office/drawing/2014/main" id="{6D9191F4-2B56-1EA0-51B8-C365D4FD15B8}"/>
              </a:ext>
            </a:extLst>
          </p:cNvPr>
          <p:cNvSpPr txBox="1">
            <a:spLocks/>
          </p:cNvSpPr>
          <p:nvPr/>
        </p:nvSpPr>
        <p:spPr>
          <a:xfrm>
            <a:off x="137242" y="2056614"/>
            <a:ext cx="2799419" cy="45719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600" b="1" dirty="0"/>
              <a:t>Performances : ouvre </a:t>
            </a:r>
            <a:r>
              <a:rPr lang="fr-FR" sz="1600" b="1" dirty="0" err="1"/>
              <a:t>MLFlow</a:t>
            </a:r>
            <a:endParaRPr lang="fr-FR" sz="16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968"/>
            <a:ext cx="3850849" cy="800018"/>
          </a:xfrm>
        </p:spPr>
        <p:txBody>
          <a:bodyPr>
            <a:normAutofit/>
          </a:bodyPr>
          <a:lstStyle/>
          <a:p>
            <a:r>
              <a:rPr sz="3200" dirty="0"/>
              <a:t>Choix du </a:t>
            </a:r>
            <a:r>
              <a:rPr sz="3200" dirty="0" err="1"/>
              <a:t>modèle</a:t>
            </a:r>
            <a:r>
              <a:rPr sz="3200" dirty="0"/>
              <a:t>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078" y="1207729"/>
            <a:ext cx="7649852" cy="1208988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defRPr sz="1800"/>
            </a:pPr>
            <a:r>
              <a:rPr lang="fr-FR" dirty="0" err="1"/>
              <a:t>XGBoost</a:t>
            </a:r>
            <a:r>
              <a:rPr dirty="0"/>
              <a:t> </a:t>
            </a:r>
            <a:r>
              <a:rPr dirty="0" err="1"/>
              <a:t>retenu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modèle</a:t>
            </a:r>
            <a:r>
              <a:rPr dirty="0"/>
              <a:t> final.</a:t>
            </a:r>
          </a:p>
          <a:p>
            <a:pPr>
              <a:defRPr sz="1800"/>
            </a:pPr>
            <a:r>
              <a:rPr dirty="0"/>
              <a:t>Très </a:t>
            </a:r>
            <a:r>
              <a:rPr dirty="0" err="1"/>
              <a:t>bonnes</a:t>
            </a:r>
            <a:r>
              <a:rPr dirty="0"/>
              <a:t> performances avec un temps </a:t>
            </a:r>
            <a:r>
              <a:rPr dirty="0" err="1"/>
              <a:t>d’entraînement</a:t>
            </a:r>
            <a:r>
              <a:rPr dirty="0"/>
              <a:t> </a:t>
            </a:r>
            <a:r>
              <a:rPr dirty="0" err="1"/>
              <a:t>réduit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Capacité</a:t>
            </a:r>
            <a:r>
              <a:rPr dirty="0"/>
              <a:t> à </a:t>
            </a:r>
            <a:r>
              <a:rPr dirty="0" err="1"/>
              <a:t>gérer</a:t>
            </a:r>
            <a:r>
              <a:rPr dirty="0"/>
              <a:t> </a:t>
            </a:r>
            <a:r>
              <a:rPr dirty="0" err="1"/>
              <a:t>efficacement</a:t>
            </a:r>
            <a:r>
              <a:rPr dirty="0"/>
              <a:t> les données </a:t>
            </a:r>
            <a:r>
              <a:rPr dirty="0" err="1"/>
              <a:t>tabulaires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1250"/>
            <a:ext cx="4572000" cy="680291"/>
          </a:xfrm>
        </p:spPr>
        <p:txBody>
          <a:bodyPr>
            <a:normAutofit/>
          </a:bodyPr>
          <a:lstStyle/>
          <a:p>
            <a:r>
              <a:rPr sz="3200" dirty="0" err="1"/>
              <a:t>MLflow</a:t>
            </a:r>
            <a:r>
              <a:rPr sz="3200" dirty="0"/>
              <a:t> &amp; </a:t>
            </a:r>
            <a:r>
              <a:rPr sz="3200" dirty="0" err="1"/>
              <a:t>industrialisation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338" y="740102"/>
            <a:ext cx="3740225" cy="68029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defRPr sz="1800"/>
            </a:pPr>
            <a:r>
              <a:rPr sz="1000" dirty="0"/>
              <a:t>Tracking </a:t>
            </a:r>
            <a:r>
              <a:rPr sz="1000" dirty="0" err="1"/>
              <a:t>automatique</a:t>
            </a:r>
            <a:r>
              <a:rPr sz="1000" dirty="0"/>
              <a:t> des </a:t>
            </a:r>
            <a:r>
              <a:rPr sz="1000" dirty="0" err="1"/>
              <a:t>paramètres</a:t>
            </a:r>
            <a:r>
              <a:rPr sz="1000" dirty="0"/>
              <a:t>, </a:t>
            </a:r>
            <a:r>
              <a:rPr sz="1000" dirty="0" err="1"/>
              <a:t>métriques</a:t>
            </a:r>
            <a:r>
              <a:rPr sz="1000" dirty="0"/>
              <a:t> et artefacts.</a:t>
            </a:r>
          </a:p>
          <a:p>
            <a:pPr>
              <a:defRPr sz="1800"/>
            </a:pPr>
            <a:r>
              <a:rPr sz="1000" dirty="0"/>
              <a:t>Stockage </a:t>
            </a:r>
            <a:r>
              <a:rPr sz="1000" dirty="0" err="1"/>
              <a:t>centralisé</a:t>
            </a:r>
            <a:r>
              <a:rPr sz="1000" dirty="0"/>
              <a:t> des </a:t>
            </a:r>
            <a:r>
              <a:rPr sz="1000" dirty="0" err="1"/>
              <a:t>modèles</a:t>
            </a:r>
            <a:r>
              <a:rPr sz="1000" dirty="0"/>
              <a:t> dans </a:t>
            </a:r>
            <a:r>
              <a:rPr sz="1000" dirty="0" err="1"/>
              <a:t>MLflow</a:t>
            </a:r>
            <a:r>
              <a:rPr sz="1000" dirty="0"/>
              <a:t>.</a:t>
            </a:r>
          </a:p>
          <a:p>
            <a:pPr>
              <a:defRPr sz="1800"/>
            </a:pPr>
            <a:r>
              <a:rPr sz="1000" dirty="0" err="1"/>
              <a:t>Comparaison</a:t>
            </a:r>
            <a:r>
              <a:rPr sz="1000" dirty="0"/>
              <a:t> </a:t>
            </a:r>
            <a:r>
              <a:rPr sz="1000" dirty="0" err="1"/>
              <a:t>facilitée</a:t>
            </a:r>
            <a:r>
              <a:rPr sz="1000" dirty="0"/>
              <a:t> entre les </a:t>
            </a:r>
            <a:r>
              <a:rPr sz="1000" dirty="0" err="1"/>
              <a:t>expérimentations</a:t>
            </a:r>
            <a:r>
              <a:rPr sz="1000" dirty="0"/>
              <a:t>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EF61099-252B-883F-2279-9E3F891F5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38" y="1572106"/>
            <a:ext cx="8615191" cy="246083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7423083-107A-1378-E547-EC9C14139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38" y="4171879"/>
            <a:ext cx="5971207" cy="265209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0687"/>
            <a:ext cx="5090475" cy="602055"/>
          </a:xfrm>
        </p:spPr>
        <p:txBody>
          <a:bodyPr>
            <a:normAutofit/>
          </a:bodyPr>
          <a:lstStyle/>
          <a:p>
            <a:r>
              <a:rPr sz="3200" dirty="0"/>
              <a:t>Feature Importance </a:t>
            </a:r>
            <a:r>
              <a:rPr sz="3200" dirty="0" err="1"/>
              <a:t>globale</a:t>
            </a:r>
            <a:endParaRPr sz="3200" dirty="0"/>
          </a:p>
        </p:txBody>
      </p:sp>
      <p:pic>
        <p:nvPicPr>
          <p:cNvPr id="5" name="Picture 2" descr="cell_7_0.png">
            <a:extLst>
              <a:ext uri="{FF2B5EF4-FFF2-40B4-BE49-F238E27FC236}">
                <a16:creationId xmlns:a16="http://schemas.microsoft.com/office/drawing/2014/main" id="{79B20B54-4A40-9636-D618-55A680296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833" y="942680"/>
            <a:ext cx="4901627" cy="54015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723" y="1630859"/>
            <a:ext cx="4731026" cy="87464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defRPr sz="1800"/>
            </a:pPr>
            <a:r>
              <a:rPr sz="1200" dirty="0" err="1"/>
              <a:t>Analyse</a:t>
            </a:r>
            <a:r>
              <a:rPr sz="1200" dirty="0"/>
              <a:t> SHAP </a:t>
            </a:r>
            <a:r>
              <a:rPr sz="1200" dirty="0" err="1"/>
              <a:t>globale</a:t>
            </a:r>
            <a:r>
              <a:rPr sz="1200" dirty="0"/>
              <a:t> des variables </a:t>
            </a:r>
            <a:r>
              <a:rPr sz="1200" dirty="0" err="1"/>
              <a:t>importantes</a:t>
            </a:r>
            <a:r>
              <a:rPr sz="1200" dirty="0"/>
              <a:t>.</a:t>
            </a:r>
          </a:p>
          <a:p>
            <a:pPr>
              <a:defRPr sz="1800"/>
            </a:pPr>
            <a:r>
              <a:rPr sz="1200" dirty="0"/>
              <a:t>Identification des variables </a:t>
            </a:r>
            <a:r>
              <a:rPr sz="1200" dirty="0" err="1"/>
              <a:t>ayant</a:t>
            </a:r>
            <a:r>
              <a:rPr sz="1200" dirty="0"/>
              <a:t> le plus </a:t>
            </a:r>
            <a:r>
              <a:rPr sz="1200" dirty="0" err="1"/>
              <a:t>d’impact</a:t>
            </a:r>
            <a:r>
              <a:rPr sz="1200" dirty="0"/>
              <a:t> sur la </a:t>
            </a:r>
            <a:r>
              <a:rPr sz="1200" dirty="0" err="1"/>
              <a:t>prédiction</a:t>
            </a:r>
            <a:r>
              <a:rPr sz="1200" dirty="0"/>
              <a:t>.</a:t>
            </a:r>
          </a:p>
          <a:p>
            <a:pPr>
              <a:defRPr sz="1800"/>
            </a:pPr>
            <a:r>
              <a:rPr sz="1200" dirty="0" err="1"/>
              <a:t>Visualisation</a:t>
            </a:r>
            <a:r>
              <a:rPr sz="1200" dirty="0"/>
              <a:t> de </a:t>
            </a:r>
            <a:r>
              <a:rPr sz="1200" dirty="0" err="1"/>
              <a:t>l’influence</a:t>
            </a:r>
            <a:r>
              <a:rPr sz="1200" dirty="0"/>
              <a:t> positive </a:t>
            </a:r>
            <a:r>
              <a:rPr sz="1200" dirty="0" err="1"/>
              <a:t>ou</a:t>
            </a:r>
            <a:r>
              <a:rPr sz="1200" dirty="0"/>
              <a:t> </a:t>
            </a:r>
            <a:r>
              <a:rPr sz="1200" dirty="0" err="1"/>
              <a:t>négative</a:t>
            </a:r>
            <a:r>
              <a:rPr sz="1200" dirty="0"/>
              <a:t> des features.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7C442D4-149A-B0BB-24B9-49338455B754}"/>
              </a:ext>
            </a:extLst>
          </p:cNvPr>
          <p:cNvSpPr txBox="1"/>
          <p:nvPr/>
        </p:nvSpPr>
        <p:spPr>
          <a:xfrm>
            <a:off x="24181" y="5923983"/>
            <a:ext cx="473102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FR" dirty="0"/>
              <a:t>Les graphiques SHAP permettent d’identifier les variables les plus influentes dans les prédictions du modèle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26087"/>
            <a:ext cx="4666268" cy="705750"/>
          </a:xfrm>
        </p:spPr>
        <p:txBody>
          <a:bodyPr>
            <a:normAutofit/>
          </a:bodyPr>
          <a:lstStyle/>
          <a:p>
            <a:r>
              <a:rPr sz="3200" dirty="0"/>
              <a:t>Feature Importance locale</a:t>
            </a:r>
          </a:p>
        </p:txBody>
      </p:sp>
      <p:pic>
        <p:nvPicPr>
          <p:cNvPr id="5" name="Picture 3" descr="cell_7_1.png">
            <a:extLst>
              <a:ext uri="{FF2B5EF4-FFF2-40B4-BE49-F238E27FC236}">
                <a16:creationId xmlns:a16="http://schemas.microsoft.com/office/drawing/2014/main" id="{754D1386-D81A-CB86-796F-4BBDE2AA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907" y="1063242"/>
            <a:ext cx="4666267" cy="538195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388" y="878872"/>
            <a:ext cx="4388177" cy="888475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>
              <a:defRPr sz="1800"/>
            </a:pPr>
            <a:r>
              <a:rPr sz="1200" dirty="0"/>
              <a:t>Explications locales des </a:t>
            </a:r>
            <a:r>
              <a:rPr sz="1200" dirty="0" err="1"/>
              <a:t>prédictions</a:t>
            </a:r>
            <a:r>
              <a:rPr sz="1200" dirty="0"/>
              <a:t> </a:t>
            </a:r>
            <a:r>
              <a:rPr sz="1200" dirty="0" err="1"/>
              <a:t>individuelles</a:t>
            </a:r>
            <a:r>
              <a:rPr sz="1200" dirty="0"/>
              <a:t>.</a:t>
            </a:r>
          </a:p>
          <a:p>
            <a:pPr>
              <a:defRPr sz="1800"/>
            </a:pPr>
            <a:r>
              <a:rPr sz="1200" dirty="0" err="1"/>
              <a:t>Utilisation</a:t>
            </a:r>
            <a:r>
              <a:rPr sz="1200" dirty="0"/>
              <a:t> de SHAP waterfall pour </a:t>
            </a:r>
            <a:r>
              <a:rPr sz="1200" dirty="0" err="1"/>
              <a:t>interpréter</a:t>
            </a:r>
            <a:r>
              <a:rPr sz="1200" dirty="0"/>
              <a:t> </a:t>
            </a:r>
            <a:r>
              <a:rPr sz="1200" dirty="0" err="1"/>
              <a:t>chaque</a:t>
            </a:r>
            <a:r>
              <a:rPr sz="1200" dirty="0"/>
              <a:t> client.</a:t>
            </a:r>
          </a:p>
          <a:p>
            <a:pPr>
              <a:defRPr sz="1800"/>
            </a:pPr>
            <a:r>
              <a:rPr sz="1200" dirty="0" err="1"/>
              <a:t>Amélioration</a:t>
            </a:r>
            <a:r>
              <a:rPr sz="1200" dirty="0"/>
              <a:t> de la transparence et de </a:t>
            </a:r>
            <a:r>
              <a:rPr sz="1200" dirty="0" err="1"/>
              <a:t>l’explicabilité</a:t>
            </a:r>
            <a:r>
              <a:rPr sz="1200" dirty="0"/>
              <a:t>.</a:t>
            </a:r>
          </a:p>
        </p:txBody>
      </p:sp>
      <p:pic>
        <p:nvPicPr>
          <p:cNvPr id="6" name="Picture 2" descr="cell_11_0.png">
            <a:extLst>
              <a:ext uri="{FF2B5EF4-FFF2-40B4-BE49-F238E27FC236}">
                <a16:creationId xmlns:a16="http://schemas.microsoft.com/office/drawing/2014/main" id="{20DC32A4-0C6D-7DB6-DC78-CBBE283D5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61" y="2469823"/>
            <a:ext cx="3135835" cy="42369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114"/>
            <a:ext cx="3874416" cy="711723"/>
          </a:xfrm>
        </p:spPr>
        <p:txBody>
          <a:bodyPr>
            <a:normAutofit/>
          </a:bodyPr>
          <a:lstStyle/>
          <a:p>
            <a:r>
              <a:rPr sz="3200" dirty="0" err="1"/>
              <a:t>Déploiement</a:t>
            </a:r>
            <a:r>
              <a:rPr sz="3200" dirty="0"/>
              <a:t> de </a:t>
            </a:r>
            <a:r>
              <a:rPr sz="3200" dirty="0" err="1"/>
              <a:t>l’API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096" y="822651"/>
            <a:ext cx="6094429" cy="3109586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defRPr sz="1600"/>
            </a:pPr>
            <a:r>
              <a:rPr dirty="0"/>
              <a:t>Le </a:t>
            </a:r>
            <a:r>
              <a:rPr dirty="0" err="1"/>
              <a:t>modèle</a:t>
            </a:r>
            <a:r>
              <a:rPr dirty="0"/>
              <a:t> final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encapsulé</a:t>
            </a:r>
            <a:r>
              <a:rPr dirty="0"/>
              <a:t> dans </a:t>
            </a:r>
            <a:r>
              <a:rPr dirty="0" err="1"/>
              <a:t>une</a:t>
            </a:r>
            <a:r>
              <a:rPr dirty="0"/>
              <a:t> API </a:t>
            </a:r>
            <a:r>
              <a:rPr lang="fr-FR" dirty="0" err="1"/>
              <a:t>FastAPI</a:t>
            </a:r>
            <a:r>
              <a:rPr dirty="0"/>
              <a:t> </a:t>
            </a:r>
            <a:r>
              <a:rPr dirty="0" err="1"/>
              <a:t>afin</a:t>
            </a:r>
            <a:r>
              <a:rPr dirty="0"/>
              <a:t> de </a:t>
            </a:r>
            <a:r>
              <a:rPr dirty="0" err="1"/>
              <a:t>permettre</a:t>
            </a:r>
            <a:r>
              <a:rPr dirty="0"/>
              <a:t> des </a:t>
            </a:r>
            <a:r>
              <a:rPr dirty="0" err="1"/>
              <a:t>prédictions</a:t>
            </a:r>
            <a:r>
              <a:rPr dirty="0"/>
              <a:t> à distance.</a:t>
            </a:r>
          </a:p>
          <a:p>
            <a:pPr>
              <a:defRPr sz="1600"/>
            </a:pPr>
            <a:r>
              <a:rPr dirty="0" err="1"/>
              <a:t>Fonctionnement</a:t>
            </a:r>
            <a:r>
              <a:rPr dirty="0"/>
              <a:t> :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Réception</a:t>
            </a:r>
            <a:r>
              <a:rPr dirty="0"/>
              <a:t> des données client via </a:t>
            </a:r>
            <a:r>
              <a:rPr dirty="0" err="1"/>
              <a:t>requête</a:t>
            </a:r>
            <a:r>
              <a:rPr dirty="0"/>
              <a:t> HTTP POST</a:t>
            </a:r>
          </a:p>
          <a:p>
            <a:pPr>
              <a:defRPr sz="1600"/>
            </a:pPr>
            <a:r>
              <a:rPr dirty="0"/>
              <a:t>• Application </a:t>
            </a:r>
            <a:r>
              <a:rPr dirty="0" err="1"/>
              <a:t>automatique</a:t>
            </a:r>
            <a:r>
              <a:rPr dirty="0"/>
              <a:t> du preprocessing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Calcul</a:t>
            </a:r>
            <a:r>
              <a:rPr dirty="0"/>
              <a:t> de la </a:t>
            </a:r>
            <a:r>
              <a:rPr dirty="0" err="1"/>
              <a:t>probabilité</a:t>
            </a:r>
            <a:r>
              <a:rPr dirty="0"/>
              <a:t> de </a:t>
            </a:r>
            <a:r>
              <a:rPr dirty="0" err="1"/>
              <a:t>défaut</a:t>
            </a:r>
            <a:endParaRPr dirty="0"/>
          </a:p>
          <a:p>
            <a:pPr>
              <a:defRPr sz="1600"/>
            </a:pPr>
            <a:r>
              <a:rPr dirty="0"/>
              <a:t>• Application du </a:t>
            </a:r>
            <a:r>
              <a:rPr dirty="0" err="1"/>
              <a:t>seuil</a:t>
            </a:r>
            <a:r>
              <a:rPr dirty="0"/>
              <a:t> métier </a:t>
            </a:r>
            <a:r>
              <a:rPr dirty="0" err="1"/>
              <a:t>optimisé</a:t>
            </a:r>
            <a:endParaRPr dirty="0"/>
          </a:p>
          <a:p>
            <a:pPr>
              <a:defRPr sz="1600"/>
            </a:pPr>
            <a:r>
              <a:rPr dirty="0"/>
              <a:t>• Retour JSON </a:t>
            </a:r>
            <a:r>
              <a:rPr dirty="0" err="1"/>
              <a:t>contenant</a:t>
            </a:r>
            <a:r>
              <a:rPr dirty="0"/>
              <a:t> la </a:t>
            </a:r>
            <a:r>
              <a:rPr dirty="0" err="1"/>
              <a:t>prédiction</a:t>
            </a:r>
            <a:r>
              <a:rPr dirty="0"/>
              <a:t> et la </a:t>
            </a:r>
            <a:r>
              <a:rPr dirty="0" err="1"/>
              <a:t>probabilité</a:t>
            </a:r>
            <a:endParaRPr dirty="0"/>
          </a:p>
          <a:p>
            <a:pPr>
              <a:defRPr sz="1600"/>
            </a:pPr>
            <a:r>
              <a:rPr dirty="0"/>
              <a:t>L’API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déployée</a:t>
            </a:r>
            <a:r>
              <a:rPr dirty="0"/>
              <a:t> sur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plateforme</a:t>
            </a:r>
            <a:r>
              <a:rPr dirty="0"/>
              <a:t> Cloud </a:t>
            </a:r>
            <a:r>
              <a:rPr dirty="0" err="1"/>
              <a:t>gratuite</a:t>
            </a:r>
            <a:r>
              <a:rPr dirty="0"/>
              <a:t>.</a:t>
            </a:r>
          </a:p>
          <a:p>
            <a:pPr>
              <a:defRPr sz="1600"/>
            </a:pPr>
            <a:r>
              <a:rPr dirty="0"/>
              <a:t>Une interface </a:t>
            </a:r>
            <a:r>
              <a:rPr dirty="0" err="1"/>
              <a:t>Streamlit</a:t>
            </a:r>
            <a:r>
              <a:rPr dirty="0"/>
              <a:t> a </a:t>
            </a:r>
            <a:r>
              <a:rPr dirty="0" err="1"/>
              <a:t>également</a:t>
            </a:r>
            <a:r>
              <a:rPr dirty="0"/>
              <a:t>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développée</a:t>
            </a:r>
            <a:r>
              <a:rPr dirty="0"/>
              <a:t> pour tester </a:t>
            </a:r>
            <a:r>
              <a:rPr dirty="0" err="1"/>
              <a:t>facilement</a:t>
            </a:r>
            <a:r>
              <a:rPr dirty="0"/>
              <a:t> </a:t>
            </a:r>
            <a:r>
              <a:rPr dirty="0" err="1"/>
              <a:t>l’API</a:t>
            </a:r>
            <a:r>
              <a:rPr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45096" y="4372937"/>
            <a:ext cx="3047215" cy="5832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Tests et qualité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0321" y="4956138"/>
            <a:ext cx="7414181" cy="12089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fr-FR" sz="1800" dirty="0"/>
              <a:t>Mise en place de tests unitaires automatisés avec </a:t>
            </a:r>
            <a:r>
              <a:rPr lang="fr-FR" sz="1800" dirty="0" err="1"/>
              <a:t>pytest</a:t>
            </a:r>
            <a:r>
              <a:rPr lang="fr-FR" sz="1800" dirty="0"/>
              <a:t>.</a:t>
            </a:r>
          </a:p>
          <a:p>
            <a:pPr>
              <a:defRPr sz="1800"/>
            </a:pPr>
            <a:r>
              <a:rPr lang="fr-FR" sz="1800" dirty="0"/>
              <a:t>Vérification du bon fonctionnement de l’API.</a:t>
            </a:r>
          </a:p>
          <a:p>
            <a:pPr>
              <a:defRPr sz="1800"/>
            </a:pPr>
            <a:r>
              <a:rPr lang="fr-FR" sz="1800" dirty="0"/>
              <a:t>Pipeline CI/CD exécuté automatiquement via GitHub Actions / Railway.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0563E2A-9A58-30C4-45BD-DFC8B0139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46544" cy="462708"/>
          </a:xfrm>
        </p:spPr>
        <p:txBody>
          <a:bodyPr>
            <a:noAutofit/>
          </a:bodyPr>
          <a:lstStyle/>
          <a:p>
            <a:r>
              <a:rPr lang="fr-FR" sz="3200" dirty="0"/>
              <a:t>CI/CD: </a:t>
            </a:r>
            <a:r>
              <a:rPr lang="fr-FR" sz="3200" dirty="0" err="1"/>
              <a:t>Continuous</a:t>
            </a:r>
            <a:r>
              <a:rPr lang="fr-FR" sz="3200" dirty="0"/>
              <a:t> </a:t>
            </a:r>
            <a:r>
              <a:rPr lang="fr-FR" sz="3200" dirty="0" err="1"/>
              <a:t>Integration</a:t>
            </a:r>
            <a:r>
              <a:rPr lang="fr-FR" sz="3200" dirty="0"/>
              <a:t> / </a:t>
            </a:r>
            <a:r>
              <a:rPr lang="fr-FR" sz="3200" dirty="0" err="1"/>
              <a:t>Continuous</a:t>
            </a:r>
            <a:r>
              <a:rPr lang="fr-FR" sz="3200" dirty="0"/>
              <a:t> Delivery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971AAD-CBB6-3366-FAB3-F6E6C15A157C}"/>
              </a:ext>
            </a:extLst>
          </p:cNvPr>
          <p:cNvSpPr txBox="1">
            <a:spLocks/>
          </p:cNvSpPr>
          <p:nvPr/>
        </p:nvSpPr>
        <p:spPr>
          <a:xfrm>
            <a:off x="88135" y="3429000"/>
            <a:ext cx="1476260" cy="30965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500" dirty="0"/>
              <a:t>Railway cloud: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8FA5DB-2F6B-B432-0C12-E72E2622783B}"/>
              </a:ext>
            </a:extLst>
          </p:cNvPr>
          <p:cNvSpPr txBox="1">
            <a:spLocks/>
          </p:cNvSpPr>
          <p:nvPr/>
        </p:nvSpPr>
        <p:spPr>
          <a:xfrm>
            <a:off x="198303" y="684533"/>
            <a:ext cx="1938968" cy="30965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800" dirty="0"/>
              <a:t>GitHub + Git Actions: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2E71539-1918-FA39-B309-A0C1D8A3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4" y="3717648"/>
            <a:ext cx="5420299" cy="31369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C857689-177E-80A0-3A34-05884E03F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03" y="996303"/>
            <a:ext cx="4093864" cy="23197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10F97D6-A012-A342-69DA-42F6C426F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272" y="996303"/>
            <a:ext cx="4032173" cy="23197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BDD916-2C03-1D4F-4081-93C299FB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611944-2DF4-82BB-3BC7-1D52948B4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8476824-276F-DB29-F1D4-82A4DC7B5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700"/>
            <a:ext cx="9144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81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0D721F1-C0B3-2FBB-C122-4B9907C30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114"/>
            <a:ext cx="6853287" cy="711723"/>
          </a:xfrm>
        </p:spPr>
        <p:txBody>
          <a:bodyPr>
            <a:normAutofit/>
          </a:bodyPr>
          <a:lstStyle/>
          <a:p>
            <a:r>
              <a:rPr lang="fr-FR" sz="3200" dirty="0"/>
              <a:t>Interface web de prédiction / </a:t>
            </a:r>
            <a:r>
              <a:rPr lang="fr-FR" sz="3200" dirty="0" err="1"/>
              <a:t>streamlit</a:t>
            </a:r>
            <a:endParaRPr lang="fr-FR" sz="32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FBA0595-E31F-0CB1-E1F9-3CF2A4E85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549"/>
            <a:ext cx="9144000" cy="434290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114"/>
            <a:ext cx="6117996" cy="554922"/>
          </a:xfrm>
        </p:spPr>
        <p:txBody>
          <a:bodyPr>
            <a:normAutofit fontScale="90000"/>
          </a:bodyPr>
          <a:lstStyle/>
          <a:p>
            <a:r>
              <a:rPr sz="3200" dirty="0"/>
              <a:t>Monitoring &amp; Data Drift</a:t>
            </a:r>
            <a:r>
              <a:rPr lang="fr-FR" sz="3200" dirty="0"/>
              <a:t> / </a:t>
            </a:r>
            <a:r>
              <a:rPr lang="fr-FR" sz="3200" dirty="0" err="1"/>
              <a:t>Evidently</a:t>
            </a:r>
            <a:r>
              <a:rPr lang="fr-FR" sz="3200" dirty="0"/>
              <a:t> 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670" y="843853"/>
            <a:ext cx="8644379" cy="2859227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defRPr sz="1600"/>
            </a:pPr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intègre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première démarche de surveillance du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production.</a:t>
            </a:r>
          </a:p>
          <a:p>
            <a:pPr>
              <a:defRPr sz="1600"/>
            </a:pPr>
            <a:r>
              <a:rPr dirty="0"/>
              <a:t>La </a:t>
            </a:r>
            <a:r>
              <a:rPr dirty="0" err="1"/>
              <a:t>librairie</a:t>
            </a:r>
            <a:r>
              <a:rPr dirty="0"/>
              <a:t> Evidently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utilisée</a:t>
            </a:r>
            <a:r>
              <a:rPr dirty="0"/>
              <a:t> pour </a:t>
            </a:r>
            <a:r>
              <a:rPr dirty="0" err="1"/>
              <a:t>détecter</a:t>
            </a:r>
            <a:r>
              <a:rPr dirty="0"/>
              <a:t> un </a:t>
            </a:r>
            <a:r>
              <a:rPr dirty="0" err="1"/>
              <a:t>éventuel</a:t>
            </a:r>
            <a:r>
              <a:rPr dirty="0"/>
              <a:t> Data Drift.</a:t>
            </a:r>
          </a:p>
          <a:p>
            <a:pPr>
              <a:defRPr sz="1600"/>
            </a:pPr>
            <a:r>
              <a:rPr dirty="0" err="1"/>
              <a:t>Hypothèse</a:t>
            </a:r>
            <a:r>
              <a:rPr dirty="0"/>
              <a:t> </a:t>
            </a:r>
            <a:r>
              <a:rPr dirty="0" err="1"/>
              <a:t>retenue</a:t>
            </a:r>
            <a:r>
              <a:rPr dirty="0"/>
              <a:t> :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application_train</a:t>
            </a:r>
            <a:r>
              <a:rPr dirty="0"/>
              <a:t> = données </a:t>
            </a:r>
            <a:r>
              <a:rPr dirty="0" err="1"/>
              <a:t>historiques</a:t>
            </a:r>
            <a:r>
              <a:rPr dirty="0"/>
              <a:t> </a:t>
            </a:r>
            <a:r>
              <a:rPr dirty="0" err="1"/>
              <a:t>d’entraînement</a:t>
            </a:r>
            <a:endParaRPr dirty="0"/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application_test</a:t>
            </a:r>
            <a:r>
              <a:rPr dirty="0"/>
              <a:t> = </a:t>
            </a:r>
            <a:r>
              <a:rPr dirty="0" err="1"/>
              <a:t>nouvelles</a:t>
            </a:r>
            <a:r>
              <a:rPr dirty="0"/>
              <a:t> données clients </a:t>
            </a:r>
            <a:r>
              <a:rPr dirty="0" err="1"/>
              <a:t>en</a:t>
            </a:r>
            <a:r>
              <a:rPr dirty="0"/>
              <a:t> production</a:t>
            </a:r>
          </a:p>
          <a:p>
            <a:pPr>
              <a:defRPr sz="1600"/>
            </a:pPr>
            <a:r>
              <a:rPr dirty="0"/>
              <a:t>Les distributions des </a:t>
            </a:r>
            <a:r>
              <a:rPr dirty="0" err="1"/>
              <a:t>principales</a:t>
            </a:r>
            <a:r>
              <a:rPr dirty="0"/>
              <a:t> variables </a:t>
            </a:r>
            <a:r>
              <a:rPr dirty="0" err="1"/>
              <a:t>ont</a:t>
            </a:r>
            <a:r>
              <a:rPr dirty="0"/>
              <a:t>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comparées</a:t>
            </a:r>
            <a:r>
              <a:rPr dirty="0"/>
              <a:t> </a:t>
            </a:r>
            <a:r>
              <a:rPr dirty="0" err="1"/>
              <a:t>afin</a:t>
            </a:r>
            <a:r>
              <a:rPr dirty="0"/>
              <a:t> </a:t>
            </a:r>
            <a:r>
              <a:rPr dirty="0" err="1"/>
              <a:t>d’identifier</a:t>
            </a:r>
            <a:r>
              <a:rPr dirty="0"/>
              <a:t> des </a:t>
            </a:r>
            <a:r>
              <a:rPr dirty="0" err="1"/>
              <a:t>dérives</a:t>
            </a:r>
            <a:r>
              <a:rPr dirty="0"/>
              <a:t> </a:t>
            </a:r>
            <a:r>
              <a:rPr dirty="0" err="1"/>
              <a:t>potentielles</a:t>
            </a:r>
            <a:r>
              <a:rPr dirty="0"/>
              <a:t>.</a:t>
            </a:r>
          </a:p>
          <a:p>
            <a:pPr>
              <a:defRPr sz="1600"/>
            </a:pPr>
            <a:r>
              <a:rPr dirty="0"/>
              <a:t>Un rapport HTML </a:t>
            </a:r>
            <a:r>
              <a:rPr dirty="0" err="1"/>
              <a:t>interactif</a:t>
            </a:r>
            <a:r>
              <a:rPr dirty="0"/>
              <a:t>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généré</a:t>
            </a:r>
            <a:r>
              <a:rPr dirty="0"/>
              <a:t> avec Evidently.</a:t>
            </a:r>
          </a:p>
          <a:p>
            <a:pPr>
              <a:defRPr sz="1600"/>
            </a:pPr>
            <a:r>
              <a:rPr dirty="0"/>
              <a:t>Cette </a:t>
            </a:r>
            <a:r>
              <a:rPr dirty="0" err="1"/>
              <a:t>approche</a:t>
            </a:r>
            <a:r>
              <a:rPr dirty="0"/>
              <a:t>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d’anticiper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future </a:t>
            </a:r>
            <a:r>
              <a:rPr dirty="0" err="1"/>
              <a:t>dégradation</a:t>
            </a:r>
            <a:r>
              <a:rPr dirty="0"/>
              <a:t> des performances du </a:t>
            </a:r>
            <a:r>
              <a:rPr dirty="0" err="1"/>
              <a:t>modèle</a:t>
            </a:r>
            <a:r>
              <a:rPr dirty="0"/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707903F-A0D5-5A1C-01CE-9E50DE05A76E}"/>
              </a:ext>
            </a:extLst>
          </p:cNvPr>
          <p:cNvSpPr txBox="1"/>
          <p:nvPr/>
        </p:nvSpPr>
        <p:spPr>
          <a:xfrm>
            <a:off x="301658" y="3846136"/>
            <a:ext cx="8578391" cy="26468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fr-FR" sz="2000" b="1" i="0" dirty="0">
                <a:effectLst/>
              </a:rPr>
              <a:t>Conclusion monitoring :</a:t>
            </a:r>
          </a:p>
          <a:p>
            <a:pPr algn="l" latinLnBrk="1">
              <a:buNone/>
            </a:pPr>
            <a:endParaRPr lang="fr-FR" b="0" i="0" dirty="0">
              <a:effectLst/>
            </a:endParaRPr>
          </a:p>
          <a:p>
            <a:pPr algn="l" latinLnBrk="1">
              <a:buNone/>
            </a:pPr>
            <a:r>
              <a:rPr lang="fr-FR" sz="1600" b="0" i="0" dirty="0">
                <a:effectLst/>
              </a:rPr>
              <a:t>Aucune dérive significative n’a été détectée.</a:t>
            </a:r>
          </a:p>
          <a:p>
            <a:pPr algn="l" latinLnBrk="1">
              <a:buNone/>
            </a:pPr>
            <a:r>
              <a:rPr lang="fr-FR" sz="1600" b="0" i="0" dirty="0">
                <a:effectLst/>
              </a:rPr>
              <a:t>Le modèle semble stable sur les données analysées.</a:t>
            </a:r>
          </a:p>
          <a:p>
            <a:pPr algn="l" latinLnBrk="1">
              <a:buNone/>
            </a:pPr>
            <a:endParaRPr lang="fr-FR" sz="1600" b="0" i="0" dirty="0">
              <a:effectLst/>
            </a:endParaRPr>
          </a:p>
          <a:p>
            <a:pPr algn="l" latinLnBrk="1">
              <a:buNone/>
            </a:pPr>
            <a:r>
              <a:rPr lang="fr-FR" sz="1600" b="0" i="0" dirty="0">
                <a:effectLst/>
              </a:rPr>
              <a:t>Actions recommandées :</a:t>
            </a:r>
          </a:p>
          <a:p>
            <a:pPr algn="l" latinLnBrk="1">
              <a:buNone/>
            </a:pPr>
            <a:r>
              <a:rPr lang="fr-FR" sz="1600" b="0" i="0" dirty="0">
                <a:effectLst/>
              </a:rPr>
              <a:t>- poursuivre le monitoring ;</a:t>
            </a:r>
          </a:p>
          <a:p>
            <a:pPr algn="l" latinLnBrk="1">
              <a:buNone/>
            </a:pPr>
            <a:r>
              <a:rPr lang="fr-FR" sz="1600" b="0" i="0" dirty="0">
                <a:effectLst/>
              </a:rPr>
              <a:t>- conserver les événements de prédiction ;</a:t>
            </a:r>
          </a:p>
          <a:p>
            <a:pPr algn="l" latinLnBrk="1">
              <a:buNone/>
            </a:pPr>
            <a:r>
              <a:rPr lang="fr-FR" sz="1600" b="0" i="0" dirty="0">
                <a:effectLst/>
              </a:rPr>
              <a:t>- refaire cette analyse régulièrement ;</a:t>
            </a:r>
          </a:p>
          <a:p>
            <a:pPr algn="l" latinLnBrk="1">
              <a:buNone/>
            </a:pPr>
            <a:r>
              <a:rPr lang="fr-FR" sz="1600" b="0" i="0" dirty="0">
                <a:effectLst/>
              </a:rPr>
              <a:t>- surveiller la performance lorsque les vraies valeurs deviennent disponibles.</a:t>
            </a:r>
          </a:p>
        </p:txBody>
      </p:sp>
      <p:sp>
        <p:nvSpPr>
          <p:cNvPr id="7" name="ZoneTexte 6">
            <a:hlinkClick r:id="rId2" action="ppaction://hlinkfile"/>
            <a:extLst>
              <a:ext uri="{FF2B5EF4-FFF2-40B4-BE49-F238E27FC236}">
                <a16:creationId xmlns:a16="http://schemas.microsoft.com/office/drawing/2014/main" id="{512000FB-7DC2-1BEF-0E69-E4B9898FA4F4}"/>
              </a:ext>
            </a:extLst>
          </p:cNvPr>
          <p:cNvSpPr txBox="1"/>
          <p:nvPr/>
        </p:nvSpPr>
        <p:spPr>
          <a:xfrm>
            <a:off x="5373280" y="2767991"/>
            <a:ext cx="3233392" cy="338554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FR" sz="1600" dirty="0"/>
              <a:t>🔗 </a:t>
            </a:r>
            <a:r>
              <a:rPr lang="fr-FR" sz="1600" b="1" dirty="0"/>
              <a:t>Ouvrir le rapport </a:t>
            </a:r>
            <a:r>
              <a:rPr lang="fr-FR" sz="1600" b="1" dirty="0" err="1"/>
              <a:t>Evidently</a:t>
            </a:r>
            <a:endParaRPr lang="fr-FR" sz="16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822"/>
            <a:ext cx="2337847" cy="705750"/>
          </a:xfrm>
        </p:spPr>
        <p:txBody>
          <a:bodyPr>
            <a:normAutofit/>
          </a:bodyPr>
          <a:lstStyle/>
          <a:p>
            <a:r>
              <a:rPr sz="32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664" y="1352748"/>
            <a:ext cx="7187938" cy="1105294"/>
          </a:xfrm>
          <a:ln>
            <a:solidFill>
              <a:schemeClr val="accent1"/>
            </a:solidFill>
          </a:ln>
        </p:spPr>
        <p:txBody>
          <a:bodyPr/>
          <a:lstStyle/>
          <a:p>
            <a:pPr>
              <a:defRPr sz="1800"/>
            </a:pPr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couvrant</a:t>
            </a:r>
            <a:r>
              <a:rPr dirty="0"/>
              <a:t> tout le cycle de vie d’un </a:t>
            </a:r>
            <a:r>
              <a:rPr dirty="0" err="1"/>
              <a:t>modèle</a:t>
            </a:r>
            <a:r>
              <a:rPr dirty="0"/>
              <a:t> ML.</a:t>
            </a:r>
          </a:p>
          <a:p>
            <a:pPr>
              <a:defRPr sz="1800"/>
            </a:pPr>
            <a:r>
              <a:rPr dirty="0" err="1"/>
              <a:t>Approche</a:t>
            </a:r>
            <a:r>
              <a:rPr dirty="0"/>
              <a:t> </a:t>
            </a:r>
            <a:r>
              <a:rPr dirty="0" err="1"/>
              <a:t>industrialisable</a:t>
            </a:r>
            <a:r>
              <a:rPr dirty="0"/>
              <a:t> et </a:t>
            </a:r>
            <a:r>
              <a:rPr dirty="0" err="1"/>
              <a:t>orientée</a:t>
            </a:r>
            <a:r>
              <a:rPr dirty="0"/>
              <a:t> métier.</a:t>
            </a:r>
          </a:p>
          <a:p>
            <a:pPr>
              <a:defRPr sz="1800"/>
            </a:pPr>
            <a:r>
              <a:rPr dirty="0" err="1"/>
              <a:t>Combinaison</a:t>
            </a:r>
            <a:r>
              <a:rPr dirty="0"/>
              <a:t> de performance, </a:t>
            </a:r>
            <a:r>
              <a:rPr dirty="0" err="1"/>
              <a:t>explicabilité</a:t>
            </a:r>
            <a:r>
              <a:rPr dirty="0"/>
              <a:t> et monitoring.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28920" y="3521541"/>
            <a:ext cx="3285241" cy="70575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/>
              <a:t>Perspectives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6882" y="4227291"/>
            <a:ext cx="4850091" cy="11052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 lang="fr-FR" sz="1800" dirty="0"/>
              <a:t>Ajout futur d’un monitoring temps réel.</a:t>
            </a:r>
          </a:p>
          <a:p>
            <a:pPr>
              <a:defRPr sz="1800"/>
            </a:pPr>
            <a:r>
              <a:rPr lang="fr-FR" sz="1800" dirty="0"/>
              <a:t>Déploiement </a:t>
            </a:r>
            <a:r>
              <a:rPr lang="fr-FR" sz="1800" dirty="0" err="1"/>
              <a:t>Kubernetes</a:t>
            </a:r>
            <a:r>
              <a:rPr lang="fr-FR" sz="1800" dirty="0"/>
              <a:t> ou Docker complet.</a:t>
            </a:r>
          </a:p>
          <a:p>
            <a:pPr>
              <a:defRPr sz="1800"/>
            </a:pPr>
            <a:r>
              <a:rPr lang="fr-FR" sz="1800" dirty="0"/>
              <a:t>Amélioration continue du score métier.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2846</TotalTime>
  <Words>1393</Words>
  <Application>Microsoft Office PowerPoint</Application>
  <PresentationFormat>Affichage à l'écran (4:3)</PresentationFormat>
  <Paragraphs>179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Consolas</vt:lpstr>
      <vt:lpstr>menlo</vt:lpstr>
      <vt:lpstr>Office Theme</vt:lpstr>
      <vt:lpstr>Projet « Implémentez un modèle de scoring » pour l’entreprise financière «Prêt à dépenser»</vt:lpstr>
      <vt:lpstr>Contexte métier</vt:lpstr>
      <vt:lpstr>Problématique métier</vt:lpstr>
      <vt:lpstr>Architecture globale du projet</vt:lpstr>
      <vt:lpstr>Jeu de données</vt:lpstr>
      <vt:lpstr>Analyse exploratoire des données (EDA)</vt:lpstr>
      <vt:lpstr>Présentation PowerPoint</vt:lpstr>
      <vt:lpstr>Encodage et normalisation</vt:lpstr>
      <vt:lpstr>Stratégie de modélisation</vt:lpstr>
      <vt:lpstr>Comparaison des modèles</vt:lpstr>
      <vt:lpstr>Choix du modèle final</vt:lpstr>
      <vt:lpstr>MLflow &amp; industrialisation</vt:lpstr>
      <vt:lpstr>Feature Importance globale</vt:lpstr>
      <vt:lpstr>Feature Importance locale</vt:lpstr>
      <vt:lpstr>Déploiement de l’API</vt:lpstr>
      <vt:lpstr>CI/CD: Continuous Integration / Continuous Delivery</vt:lpstr>
      <vt:lpstr>Présentation PowerPoint</vt:lpstr>
      <vt:lpstr>Interface web de prédiction / streamlit</vt:lpstr>
      <vt:lpstr>Monitoring &amp; Data Drift / Evidently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dana abrivard</cp:lastModifiedBy>
  <cp:revision>68</cp:revision>
  <dcterms:created xsi:type="dcterms:W3CDTF">2013-01-27T09:14:16Z</dcterms:created>
  <dcterms:modified xsi:type="dcterms:W3CDTF">2026-05-13T23:12:43Z</dcterms:modified>
  <cp:category/>
</cp:coreProperties>
</file>